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6" r:id="rId11"/>
    <p:sldId id="269" r:id="rId12"/>
    <p:sldId id="270" r:id="rId13"/>
    <p:sldId id="267" r:id="rId14"/>
  </p:sldIdLst>
  <p:sldSz cx="18288000" cy="10287000"/>
  <p:notesSz cx="6858000" cy="9144000"/>
  <p:embeddedFontLst>
    <p:embeddedFont>
      <p:font typeface="DM Sans" pitchFamily="2" charset="0"/>
      <p:regular r:id="rId15"/>
      <p:bold r:id="rId16"/>
      <p:italic r:id="rId17"/>
      <p:boldItalic r:id="rId18"/>
    </p:embeddedFont>
    <p:embeddedFont>
      <p:font typeface="DM Sans Bold" charset="0"/>
      <p:regular r:id="rId19"/>
    </p:embeddedFont>
    <p:embeddedFont>
      <p:font typeface="IBM Plex Mono" panose="020B0509050203000203" pitchFamily="49" charset="0"/>
      <p:regular r:id="rId20"/>
      <p:bold r:id="rId21"/>
      <p:italic r:id="rId22"/>
      <p:boldItalic r:id="rId23"/>
    </p:embeddedFont>
    <p:embeddedFont>
      <p:font typeface="Montserrat Bold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47" d="100"/>
          <a:sy n="47" d="100"/>
        </p:scale>
        <p:origin x="500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8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763000" y="0"/>
            <a:ext cx="9525000" cy="10287000"/>
            <a:chOff x="0" y="0"/>
            <a:chExt cx="12700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700000" cy="13716000"/>
            </a:xfrm>
            <a:custGeom>
              <a:avLst/>
              <a:gdLst/>
              <a:ahLst/>
              <a:cxnLst/>
              <a:rect l="l" t="t" r="r" b="b"/>
              <a:pathLst>
                <a:path w="12700000" h="13716000">
                  <a:moveTo>
                    <a:pt x="0" y="0"/>
                  </a:moveTo>
                  <a:lnTo>
                    <a:pt x="12700000" y="0"/>
                  </a:lnTo>
                  <a:lnTo>
                    <a:pt x="12700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2EF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700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8763000" y="0"/>
            <a:ext cx="9525000" cy="10287000"/>
          </a:xfrm>
          <a:custGeom>
            <a:avLst/>
            <a:gdLst/>
            <a:ahLst/>
            <a:cxnLst/>
            <a:rect l="l" t="t" r="r" b="b"/>
            <a:pathLst>
              <a:path w="9525000" h="10287000">
                <a:moveTo>
                  <a:pt x="0" y="0"/>
                </a:moveTo>
                <a:lnTo>
                  <a:pt x="9525000" y="0"/>
                </a:lnTo>
                <a:lnTo>
                  <a:pt x="9525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6000" r="-46000"/>
            </a:stretch>
          </a:blipFill>
          <a:ln cap="sq">
            <a:noFill/>
            <a:prstDash val="solid"/>
            <a:miter/>
          </a:ln>
        </p:spPr>
      </p:sp>
      <p:grpSp>
        <p:nvGrpSpPr>
          <p:cNvPr id="6" name="Group 6"/>
          <p:cNvGrpSpPr/>
          <p:nvPr/>
        </p:nvGrpSpPr>
        <p:grpSpPr>
          <a:xfrm>
            <a:off x="0" y="0"/>
            <a:ext cx="171450" cy="10287000"/>
            <a:chOff x="0" y="0"/>
            <a:chExt cx="228600" cy="13716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8600" cy="13716000"/>
            </a:xfrm>
            <a:custGeom>
              <a:avLst/>
              <a:gdLst/>
              <a:ahLst/>
              <a:cxnLst/>
              <a:rect l="l" t="t" r="r" b="b"/>
              <a:pathLst>
                <a:path w="228600" h="13716000">
                  <a:moveTo>
                    <a:pt x="0" y="0"/>
                  </a:moveTo>
                  <a:lnTo>
                    <a:pt x="228600" y="0"/>
                  </a:lnTo>
                  <a:lnTo>
                    <a:pt x="228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69E0"/>
            </a:solidFill>
            <a:ln w="9525" cap="sq">
              <a:solidFill>
                <a:srgbClr val="D9E2EF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286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38200" y="1428750"/>
            <a:ext cx="876300" cy="76200"/>
            <a:chOff x="0" y="0"/>
            <a:chExt cx="1168400" cy="1016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68400" cy="101600"/>
            </a:xfrm>
            <a:custGeom>
              <a:avLst/>
              <a:gdLst/>
              <a:ahLst/>
              <a:cxnLst/>
              <a:rect l="l" t="t" r="r" b="b"/>
              <a:pathLst>
                <a:path w="1168400" h="101600">
                  <a:moveTo>
                    <a:pt x="0" y="0"/>
                  </a:moveTo>
                  <a:lnTo>
                    <a:pt x="1168400" y="0"/>
                  </a:lnTo>
                  <a:lnTo>
                    <a:pt x="11684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D64045"/>
            </a:solidFill>
            <a:ln w="9525" cap="sq">
              <a:solidFill>
                <a:srgbClr val="D9E2EF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1684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838200" y="2066925"/>
            <a:ext cx="8096250" cy="2363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56"/>
              </a:lnSpc>
            </a:pPr>
            <a:r>
              <a:rPr lang="en-US" sz="5700" b="1">
                <a:solidFill>
                  <a:srgbClr val="1421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GenAI-Powered</a:t>
            </a:r>
          </a:p>
          <a:p>
            <a:pPr algn="l">
              <a:lnSpc>
                <a:spcPts val="6156"/>
              </a:lnSpc>
            </a:pPr>
            <a:r>
              <a:rPr lang="en-US" sz="5700" b="1">
                <a:solidFill>
                  <a:srgbClr val="1421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Indian Railways</a:t>
            </a:r>
          </a:p>
          <a:p>
            <a:pPr algn="l">
              <a:lnSpc>
                <a:spcPts val="6156"/>
              </a:lnSpc>
            </a:pPr>
            <a:r>
              <a:rPr lang="en-US" sz="5700" b="1">
                <a:solidFill>
                  <a:srgbClr val="1421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Administrator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38200" y="5067300"/>
            <a:ext cx="7239000" cy="74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50" dirty="0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Supervisor-Based Multi-Agent Architecture for Ticket &amp; Transaction Information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57250" y="6558767"/>
            <a:ext cx="6762750" cy="13715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2400" dirty="0">
                <a:solidFill>
                  <a:srgbClr val="14213D"/>
                </a:solidFill>
                <a:latin typeface="Times New Roman" panose="02020603050405020304" pitchFamily="18" charset="0"/>
                <a:ea typeface="IBM Plex Mono"/>
                <a:cs typeface="Times New Roman" panose="02020603050405020304" pitchFamily="18" charset="0"/>
                <a:sym typeface="IBM Plex Mono"/>
              </a:rPr>
              <a:t>NAME : Akanksha Sandeep Netkar</a:t>
            </a:r>
          </a:p>
          <a:p>
            <a:pPr algn="l">
              <a:lnSpc>
                <a:spcPts val="2126"/>
              </a:lnSpc>
            </a:pPr>
            <a:endParaRPr lang="en-US" sz="2400" dirty="0">
              <a:solidFill>
                <a:srgbClr val="14213D"/>
              </a:solidFill>
              <a:latin typeface="Times New Roman" panose="02020603050405020304" pitchFamily="18" charset="0"/>
              <a:ea typeface="IBM Plex Mono"/>
              <a:cs typeface="Times New Roman" panose="02020603050405020304" pitchFamily="18" charset="0"/>
              <a:sym typeface="IBM Plex Mono"/>
            </a:endParaRPr>
          </a:p>
          <a:p>
            <a:pPr algn="l">
              <a:lnSpc>
                <a:spcPts val="2126"/>
              </a:lnSpc>
            </a:pPr>
            <a:r>
              <a:rPr lang="en-US" sz="2400" dirty="0">
                <a:solidFill>
                  <a:srgbClr val="14213D"/>
                </a:solidFill>
                <a:latin typeface="Times New Roman" panose="02020603050405020304" pitchFamily="18" charset="0"/>
                <a:ea typeface="IBM Plex Mono"/>
                <a:cs typeface="Times New Roman" panose="02020603050405020304" pitchFamily="18" charset="0"/>
                <a:sym typeface="IBM Plex Mono"/>
              </a:rPr>
              <a:t>ROLL NUMBER  : 99</a:t>
            </a:r>
          </a:p>
          <a:p>
            <a:pPr algn="l">
              <a:lnSpc>
                <a:spcPts val="2126"/>
              </a:lnSpc>
            </a:pPr>
            <a:endParaRPr lang="en-US" sz="2400" dirty="0">
              <a:solidFill>
                <a:srgbClr val="14213D"/>
              </a:solidFill>
              <a:latin typeface="Times New Roman" panose="02020603050405020304" pitchFamily="18" charset="0"/>
              <a:ea typeface="IBM Plex Mono"/>
              <a:cs typeface="Times New Roman" panose="02020603050405020304" pitchFamily="18" charset="0"/>
              <a:sym typeface="IBM Plex Mono"/>
            </a:endParaRPr>
          </a:p>
          <a:p>
            <a:pPr algn="l">
              <a:lnSpc>
                <a:spcPts val="2126"/>
              </a:lnSpc>
            </a:pPr>
            <a:r>
              <a:rPr lang="en-US" sz="2400" dirty="0">
                <a:solidFill>
                  <a:srgbClr val="14213D"/>
                </a:solidFill>
                <a:latin typeface="Times New Roman" panose="02020603050405020304" pitchFamily="18" charset="0"/>
                <a:ea typeface="IBM Plex Mono"/>
                <a:cs typeface="Times New Roman" panose="02020603050405020304" pitchFamily="18" charset="0"/>
                <a:sym typeface="IBM Plex Mono"/>
              </a:rPr>
              <a:t>COURSE : Gen AI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38200" y="388144"/>
            <a:ext cx="16640175" cy="469106"/>
            <a:chOff x="0" y="9525"/>
            <a:chExt cx="22186900" cy="625475"/>
          </a:xfrm>
        </p:grpSpPr>
        <p:sp>
          <p:nvSpPr>
            <p:cNvPr id="3" name="TextBox 3"/>
            <p:cNvSpPr txBox="1"/>
            <p:nvPr/>
          </p:nvSpPr>
          <p:spPr>
            <a:xfrm>
              <a:off x="0" y="19050"/>
              <a:ext cx="18415000" cy="4330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2250" b="1">
                  <a:solidFill>
                    <a:srgbClr val="14213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Problem Statement</a:t>
              </a:r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0" y="609600"/>
              <a:ext cx="22148800" cy="25400"/>
              <a:chOff x="0" y="0"/>
              <a:chExt cx="22148800" cy="254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221488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2148800" h="25400">
                    <a:moveTo>
                      <a:pt x="0" y="0"/>
                    </a:moveTo>
                    <a:lnTo>
                      <a:pt x="22148800" y="0"/>
                    </a:lnTo>
                    <a:lnTo>
                      <a:pt x="221488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D9E2EF"/>
              </a:solidFill>
              <a:ln w="9525" cap="sq">
                <a:solidFill>
                  <a:srgbClr val="D9E2EF"/>
                </a:solidFill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22148800" cy="63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21043900" y="9525"/>
              <a:ext cx="1143000" cy="3536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310"/>
                </a:lnSpc>
              </a:pPr>
              <a:r>
                <a:rPr lang="en-US" sz="1650" b="1" spc="132">
                  <a:solidFill>
                    <a:srgbClr val="1769E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02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838200" y="1171575"/>
            <a:ext cx="15049500" cy="751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2"/>
              </a:lnSpc>
            </a:pPr>
            <a:r>
              <a:rPr lang="en-US" sz="2325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Railway administrators need reliable ticket and transaction information from structured records—without manually searching rows or writing SQL.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38200" y="2981325"/>
            <a:ext cx="4762500" cy="230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b="1" spc="114">
                <a:solidFill>
                  <a:srgbClr val="1769E0"/>
                </a:solidFill>
                <a:latin typeface="DM Sans Bold"/>
                <a:ea typeface="DM Sans Bold"/>
                <a:cs typeface="DM Sans Bold"/>
                <a:sym typeface="DM Sans Bold"/>
              </a:rPr>
              <a:t>INFORMATION RETRIEVAL PATH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857250" y="3476625"/>
            <a:ext cx="2952750" cy="1066800"/>
            <a:chOff x="0" y="0"/>
            <a:chExt cx="3937000" cy="1422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937000" cy="1422400"/>
            </a:xfrm>
            <a:custGeom>
              <a:avLst/>
              <a:gdLst/>
              <a:ahLst/>
              <a:cxnLst/>
              <a:rect l="l" t="t" r="r" b="b"/>
              <a:pathLst>
                <a:path w="3937000" h="1422400">
                  <a:moveTo>
                    <a:pt x="57355" y="0"/>
                  </a:moveTo>
                  <a:lnTo>
                    <a:pt x="3879645" y="0"/>
                  </a:lnTo>
                  <a:cubicBezTo>
                    <a:pt x="3894856" y="0"/>
                    <a:pt x="3909445" y="6043"/>
                    <a:pt x="3920201" y="16799"/>
                  </a:cubicBezTo>
                  <a:cubicBezTo>
                    <a:pt x="3930957" y="27555"/>
                    <a:pt x="3937000" y="42143"/>
                    <a:pt x="3937000" y="57355"/>
                  </a:cubicBezTo>
                  <a:lnTo>
                    <a:pt x="3937000" y="1365045"/>
                  </a:lnTo>
                  <a:cubicBezTo>
                    <a:pt x="3937000" y="1380257"/>
                    <a:pt x="3930957" y="1394845"/>
                    <a:pt x="3920201" y="1405601"/>
                  </a:cubicBezTo>
                  <a:cubicBezTo>
                    <a:pt x="3909445" y="1416357"/>
                    <a:pt x="3894856" y="1422400"/>
                    <a:pt x="3879645" y="1422400"/>
                  </a:cubicBezTo>
                  <a:lnTo>
                    <a:pt x="57355" y="1422400"/>
                  </a:lnTo>
                  <a:cubicBezTo>
                    <a:pt x="42143" y="1422400"/>
                    <a:pt x="27555" y="1416357"/>
                    <a:pt x="16799" y="1405601"/>
                  </a:cubicBezTo>
                  <a:cubicBezTo>
                    <a:pt x="6043" y="1394845"/>
                    <a:pt x="0" y="1380257"/>
                    <a:pt x="0" y="1365045"/>
                  </a:cubicBezTo>
                  <a:lnTo>
                    <a:pt x="0" y="57355"/>
                  </a:lnTo>
                  <a:cubicBezTo>
                    <a:pt x="0" y="42143"/>
                    <a:pt x="6043" y="27555"/>
                    <a:pt x="16799" y="16799"/>
                  </a:cubicBezTo>
                  <a:cubicBezTo>
                    <a:pt x="27555" y="6043"/>
                    <a:pt x="42143" y="0"/>
                    <a:pt x="57355" y="0"/>
                  </a:cubicBezTo>
                  <a:close/>
                </a:path>
              </a:pathLst>
            </a:custGeom>
            <a:solidFill>
              <a:srgbClr val="EAF2FF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9525"/>
              <a:ext cx="3937000" cy="1412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4213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USER</a:t>
              </a:r>
            </a:p>
          </p:txBody>
        </p:sp>
      </p:grpSp>
      <p:sp>
        <p:nvSpPr>
          <p:cNvPr id="14" name="AutoShape 14"/>
          <p:cNvSpPr/>
          <p:nvPr/>
        </p:nvSpPr>
        <p:spPr>
          <a:xfrm>
            <a:off x="3857625" y="4010025"/>
            <a:ext cx="952500" cy="0"/>
          </a:xfrm>
          <a:prstGeom prst="line">
            <a:avLst/>
          </a:prstGeom>
          <a:ln w="28575" cap="rnd">
            <a:solidFill>
              <a:srgbClr val="1769E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5" name="Group 15"/>
          <p:cNvGrpSpPr/>
          <p:nvPr/>
        </p:nvGrpSpPr>
        <p:grpSpPr>
          <a:xfrm>
            <a:off x="4953000" y="3476625"/>
            <a:ext cx="2952750" cy="1066800"/>
            <a:chOff x="0" y="0"/>
            <a:chExt cx="3937000" cy="1422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937000" cy="1422400"/>
            </a:xfrm>
            <a:custGeom>
              <a:avLst/>
              <a:gdLst/>
              <a:ahLst/>
              <a:cxnLst/>
              <a:rect l="l" t="t" r="r" b="b"/>
              <a:pathLst>
                <a:path w="3937000" h="1422400">
                  <a:moveTo>
                    <a:pt x="57355" y="0"/>
                  </a:moveTo>
                  <a:lnTo>
                    <a:pt x="3879645" y="0"/>
                  </a:lnTo>
                  <a:cubicBezTo>
                    <a:pt x="3894856" y="0"/>
                    <a:pt x="3909445" y="6043"/>
                    <a:pt x="3920201" y="16799"/>
                  </a:cubicBezTo>
                  <a:cubicBezTo>
                    <a:pt x="3930957" y="27555"/>
                    <a:pt x="3937000" y="42143"/>
                    <a:pt x="3937000" y="57355"/>
                  </a:cubicBezTo>
                  <a:lnTo>
                    <a:pt x="3937000" y="1365045"/>
                  </a:lnTo>
                  <a:cubicBezTo>
                    <a:pt x="3937000" y="1380257"/>
                    <a:pt x="3930957" y="1394845"/>
                    <a:pt x="3920201" y="1405601"/>
                  </a:cubicBezTo>
                  <a:cubicBezTo>
                    <a:pt x="3909445" y="1416357"/>
                    <a:pt x="3894856" y="1422400"/>
                    <a:pt x="3879645" y="1422400"/>
                  </a:cubicBezTo>
                  <a:lnTo>
                    <a:pt x="57355" y="1422400"/>
                  </a:lnTo>
                  <a:cubicBezTo>
                    <a:pt x="42143" y="1422400"/>
                    <a:pt x="27555" y="1416357"/>
                    <a:pt x="16799" y="1405601"/>
                  </a:cubicBezTo>
                  <a:cubicBezTo>
                    <a:pt x="6043" y="1394845"/>
                    <a:pt x="0" y="1380257"/>
                    <a:pt x="0" y="1365045"/>
                  </a:cubicBezTo>
                  <a:lnTo>
                    <a:pt x="0" y="57355"/>
                  </a:lnTo>
                  <a:cubicBezTo>
                    <a:pt x="0" y="42143"/>
                    <a:pt x="6043" y="27555"/>
                    <a:pt x="16799" y="16799"/>
                  </a:cubicBezTo>
                  <a:cubicBezTo>
                    <a:pt x="27555" y="6043"/>
                    <a:pt x="42143" y="0"/>
                    <a:pt x="57355" y="0"/>
                  </a:cubicBezTo>
                  <a:close/>
                </a:path>
              </a:pathLst>
            </a:custGeom>
            <a:solidFill>
              <a:srgbClr val="EAF2FF"/>
            </a:solidFill>
            <a:ln cap="sq">
              <a:noFill/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9525"/>
              <a:ext cx="3937000" cy="1412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4213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NATURAL-LANGUAGE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4213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QUERY</a:t>
              </a:r>
            </a:p>
          </p:txBody>
        </p:sp>
      </p:grpSp>
      <p:sp>
        <p:nvSpPr>
          <p:cNvPr id="18" name="AutoShape 18"/>
          <p:cNvSpPr/>
          <p:nvPr/>
        </p:nvSpPr>
        <p:spPr>
          <a:xfrm>
            <a:off x="7953375" y="4010025"/>
            <a:ext cx="952500" cy="0"/>
          </a:xfrm>
          <a:prstGeom prst="line">
            <a:avLst/>
          </a:prstGeom>
          <a:ln w="28575" cap="rnd">
            <a:solidFill>
              <a:srgbClr val="1769E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9" name="Group 19"/>
          <p:cNvGrpSpPr/>
          <p:nvPr/>
        </p:nvGrpSpPr>
        <p:grpSpPr>
          <a:xfrm>
            <a:off x="9048750" y="3476625"/>
            <a:ext cx="2952750" cy="1066800"/>
            <a:chOff x="0" y="0"/>
            <a:chExt cx="3937000" cy="14224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937000" cy="1422400"/>
            </a:xfrm>
            <a:custGeom>
              <a:avLst/>
              <a:gdLst/>
              <a:ahLst/>
              <a:cxnLst/>
              <a:rect l="l" t="t" r="r" b="b"/>
              <a:pathLst>
                <a:path w="3937000" h="1422400">
                  <a:moveTo>
                    <a:pt x="57355" y="0"/>
                  </a:moveTo>
                  <a:lnTo>
                    <a:pt x="3879645" y="0"/>
                  </a:lnTo>
                  <a:cubicBezTo>
                    <a:pt x="3894856" y="0"/>
                    <a:pt x="3909445" y="6043"/>
                    <a:pt x="3920201" y="16799"/>
                  </a:cubicBezTo>
                  <a:cubicBezTo>
                    <a:pt x="3930957" y="27555"/>
                    <a:pt x="3937000" y="42143"/>
                    <a:pt x="3937000" y="57355"/>
                  </a:cubicBezTo>
                  <a:lnTo>
                    <a:pt x="3937000" y="1365045"/>
                  </a:lnTo>
                  <a:cubicBezTo>
                    <a:pt x="3937000" y="1380257"/>
                    <a:pt x="3930957" y="1394845"/>
                    <a:pt x="3920201" y="1405601"/>
                  </a:cubicBezTo>
                  <a:cubicBezTo>
                    <a:pt x="3909445" y="1416357"/>
                    <a:pt x="3894856" y="1422400"/>
                    <a:pt x="3879645" y="1422400"/>
                  </a:cubicBezTo>
                  <a:lnTo>
                    <a:pt x="57355" y="1422400"/>
                  </a:lnTo>
                  <a:cubicBezTo>
                    <a:pt x="42143" y="1422400"/>
                    <a:pt x="27555" y="1416357"/>
                    <a:pt x="16799" y="1405601"/>
                  </a:cubicBezTo>
                  <a:cubicBezTo>
                    <a:pt x="6043" y="1394845"/>
                    <a:pt x="0" y="1380257"/>
                    <a:pt x="0" y="1365045"/>
                  </a:cubicBezTo>
                  <a:lnTo>
                    <a:pt x="0" y="57355"/>
                  </a:lnTo>
                  <a:cubicBezTo>
                    <a:pt x="0" y="42143"/>
                    <a:pt x="6043" y="27555"/>
                    <a:pt x="16799" y="16799"/>
                  </a:cubicBezTo>
                  <a:cubicBezTo>
                    <a:pt x="27555" y="6043"/>
                    <a:pt x="42143" y="0"/>
                    <a:pt x="57355" y="0"/>
                  </a:cubicBezTo>
                  <a:close/>
                </a:path>
              </a:pathLst>
            </a:custGeom>
            <a:solidFill>
              <a:srgbClr val="14213D"/>
            </a:solidFill>
            <a:ln cap="sq">
              <a:noFill/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9525"/>
              <a:ext cx="3937000" cy="1412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STRUCTURED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DATABASE</a:t>
              </a:r>
            </a:p>
          </p:txBody>
        </p:sp>
      </p:grpSp>
      <p:sp>
        <p:nvSpPr>
          <p:cNvPr id="22" name="AutoShape 22"/>
          <p:cNvSpPr/>
          <p:nvPr/>
        </p:nvSpPr>
        <p:spPr>
          <a:xfrm>
            <a:off x="12049125" y="4010025"/>
            <a:ext cx="952500" cy="0"/>
          </a:xfrm>
          <a:prstGeom prst="line">
            <a:avLst/>
          </a:prstGeom>
          <a:ln w="28575" cap="rnd">
            <a:solidFill>
              <a:srgbClr val="1769E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3" name="Group 23"/>
          <p:cNvGrpSpPr/>
          <p:nvPr/>
        </p:nvGrpSpPr>
        <p:grpSpPr>
          <a:xfrm>
            <a:off x="13144500" y="3476625"/>
            <a:ext cx="2952750" cy="1066800"/>
            <a:chOff x="0" y="0"/>
            <a:chExt cx="3937000" cy="14224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937000" cy="1422400"/>
            </a:xfrm>
            <a:custGeom>
              <a:avLst/>
              <a:gdLst/>
              <a:ahLst/>
              <a:cxnLst/>
              <a:rect l="l" t="t" r="r" b="b"/>
              <a:pathLst>
                <a:path w="3937000" h="1422400">
                  <a:moveTo>
                    <a:pt x="57355" y="0"/>
                  </a:moveTo>
                  <a:lnTo>
                    <a:pt x="3879645" y="0"/>
                  </a:lnTo>
                  <a:cubicBezTo>
                    <a:pt x="3894856" y="0"/>
                    <a:pt x="3909445" y="6043"/>
                    <a:pt x="3920201" y="16799"/>
                  </a:cubicBezTo>
                  <a:cubicBezTo>
                    <a:pt x="3930957" y="27555"/>
                    <a:pt x="3937000" y="42143"/>
                    <a:pt x="3937000" y="57355"/>
                  </a:cubicBezTo>
                  <a:lnTo>
                    <a:pt x="3937000" y="1365045"/>
                  </a:lnTo>
                  <a:cubicBezTo>
                    <a:pt x="3937000" y="1380257"/>
                    <a:pt x="3930957" y="1394845"/>
                    <a:pt x="3920201" y="1405601"/>
                  </a:cubicBezTo>
                  <a:cubicBezTo>
                    <a:pt x="3909445" y="1416357"/>
                    <a:pt x="3894856" y="1422400"/>
                    <a:pt x="3879645" y="1422400"/>
                  </a:cubicBezTo>
                  <a:lnTo>
                    <a:pt x="57355" y="1422400"/>
                  </a:lnTo>
                  <a:cubicBezTo>
                    <a:pt x="42143" y="1422400"/>
                    <a:pt x="27555" y="1416357"/>
                    <a:pt x="16799" y="1405601"/>
                  </a:cubicBezTo>
                  <a:cubicBezTo>
                    <a:pt x="6043" y="1394845"/>
                    <a:pt x="0" y="1380257"/>
                    <a:pt x="0" y="1365045"/>
                  </a:cubicBezTo>
                  <a:lnTo>
                    <a:pt x="0" y="57355"/>
                  </a:lnTo>
                  <a:cubicBezTo>
                    <a:pt x="0" y="42143"/>
                    <a:pt x="6043" y="27555"/>
                    <a:pt x="16799" y="16799"/>
                  </a:cubicBezTo>
                  <a:cubicBezTo>
                    <a:pt x="27555" y="6043"/>
                    <a:pt x="42143" y="0"/>
                    <a:pt x="57355" y="0"/>
                  </a:cubicBezTo>
                  <a:close/>
                </a:path>
              </a:pathLst>
            </a:custGeom>
            <a:solidFill>
              <a:srgbClr val="EAF2FF"/>
            </a:solidFill>
            <a:ln cap="sq">
              <a:noFill/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9525"/>
              <a:ext cx="3937000" cy="1412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4213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VERIFIED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4213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INFORMATION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38200" y="5810250"/>
            <a:ext cx="3048000" cy="1905000"/>
            <a:chOff x="0" y="0"/>
            <a:chExt cx="4064000" cy="2540000"/>
          </a:xfrm>
        </p:grpSpPr>
        <p:grpSp>
          <p:nvGrpSpPr>
            <p:cNvPr id="27" name="Group 27"/>
            <p:cNvGrpSpPr/>
            <p:nvPr/>
          </p:nvGrpSpPr>
          <p:grpSpPr>
            <a:xfrm>
              <a:off x="0" y="0"/>
              <a:ext cx="4064000" cy="2540000"/>
              <a:chOff x="0" y="0"/>
              <a:chExt cx="4064000" cy="25400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4064000" cy="2540000"/>
              </a:xfrm>
              <a:custGeom>
                <a:avLst/>
                <a:gdLst/>
                <a:ahLst/>
                <a:cxnLst/>
                <a:rect l="l" t="t" r="r" b="b"/>
                <a:pathLst>
                  <a:path w="4064000" h="2540000">
                    <a:moveTo>
                      <a:pt x="0" y="0"/>
                    </a:moveTo>
                    <a:lnTo>
                      <a:pt x="4064000" y="0"/>
                    </a:lnTo>
                    <a:lnTo>
                      <a:pt x="4064000" y="2540000"/>
                    </a:lnTo>
                    <a:lnTo>
                      <a:pt x="0" y="2540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9E2EF"/>
                </a:solidFill>
                <a:prstDash val="solid"/>
                <a:miter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0" y="-38100"/>
                <a:ext cx="4064000" cy="2578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304800" y="161925"/>
              <a:ext cx="889000" cy="3536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132">
                  <a:solidFill>
                    <a:srgbClr val="1769E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04800" y="1035050"/>
              <a:ext cx="3429000" cy="704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25"/>
                </a:lnSpc>
              </a:pPr>
              <a:r>
                <a:rPr lang="en-US" sz="1875" b="1">
                  <a:solidFill>
                    <a:srgbClr val="14213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Natural-language</a:t>
              </a:r>
            </a:p>
            <a:p>
              <a:pPr algn="ctr">
                <a:lnSpc>
                  <a:spcPts val="2025"/>
                </a:lnSpc>
              </a:pPr>
              <a:r>
                <a:rPr lang="en-US" sz="1875" b="1">
                  <a:solidFill>
                    <a:srgbClr val="14213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queries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171950" y="5810250"/>
            <a:ext cx="3048000" cy="1905000"/>
            <a:chOff x="0" y="0"/>
            <a:chExt cx="4064000" cy="2540000"/>
          </a:xfrm>
        </p:grpSpPr>
        <p:grpSp>
          <p:nvGrpSpPr>
            <p:cNvPr id="33" name="Group 33"/>
            <p:cNvGrpSpPr/>
            <p:nvPr/>
          </p:nvGrpSpPr>
          <p:grpSpPr>
            <a:xfrm>
              <a:off x="0" y="0"/>
              <a:ext cx="4064000" cy="2540000"/>
              <a:chOff x="0" y="0"/>
              <a:chExt cx="4064000" cy="25400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4064000" cy="2540000"/>
              </a:xfrm>
              <a:custGeom>
                <a:avLst/>
                <a:gdLst/>
                <a:ahLst/>
                <a:cxnLst/>
                <a:rect l="l" t="t" r="r" b="b"/>
                <a:pathLst>
                  <a:path w="4064000" h="2540000">
                    <a:moveTo>
                      <a:pt x="0" y="0"/>
                    </a:moveTo>
                    <a:lnTo>
                      <a:pt x="4064000" y="0"/>
                    </a:lnTo>
                    <a:lnTo>
                      <a:pt x="4064000" y="2540000"/>
                    </a:lnTo>
                    <a:lnTo>
                      <a:pt x="0" y="2540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9E2EF"/>
                </a:solidFill>
                <a:prstDash val="solid"/>
                <a:miter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0" y="-38100"/>
                <a:ext cx="4064000" cy="2578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6" name="TextBox 36"/>
            <p:cNvSpPr txBox="1"/>
            <p:nvPr/>
          </p:nvSpPr>
          <p:spPr>
            <a:xfrm>
              <a:off x="304800" y="161925"/>
              <a:ext cx="889000" cy="3536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132">
                  <a:solidFill>
                    <a:srgbClr val="1769E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04800" y="1035050"/>
              <a:ext cx="3429000" cy="704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25"/>
                </a:lnSpc>
              </a:pPr>
              <a:r>
                <a:rPr lang="en-US" sz="1875" b="1">
                  <a:solidFill>
                    <a:srgbClr val="14213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Structured database</a:t>
              </a:r>
            </a:p>
            <a:p>
              <a:pPr algn="ctr">
                <a:lnSpc>
                  <a:spcPts val="2025"/>
                </a:lnSpc>
              </a:pPr>
              <a:r>
                <a:rPr lang="en-US" sz="1875" b="1">
                  <a:solidFill>
                    <a:srgbClr val="14213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records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505700" y="5810250"/>
            <a:ext cx="3048000" cy="1905000"/>
            <a:chOff x="0" y="0"/>
            <a:chExt cx="4064000" cy="2540000"/>
          </a:xfrm>
        </p:grpSpPr>
        <p:grpSp>
          <p:nvGrpSpPr>
            <p:cNvPr id="39" name="Group 39"/>
            <p:cNvGrpSpPr/>
            <p:nvPr/>
          </p:nvGrpSpPr>
          <p:grpSpPr>
            <a:xfrm>
              <a:off x="0" y="0"/>
              <a:ext cx="4064000" cy="2540000"/>
              <a:chOff x="0" y="0"/>
              <a:chExt cx="4064000" cy="25400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4064000" cy="2540000"/>
              </a:xfrm>
              <a:custGeom>
                <a:avLst/>
                <a:gdLst/>
                <a:ahLst/>
                <a:cxnLst/>
                <a:rect l="l" t="t" r="r" b="b"/>
                <a:pathLst>
                  <a:path w="4064000" h="2540000">
                    <a:moveTo>
                      <a:pt x="0" y="0"/>
                    </a:moveTo>
                    <a:lnTo>
                      <a:pt x="4064000" y="0"/>
                    </a:lnTo>
                    <a:lnTo>
                      <a:pt x="4064000" y="2540000"/>
                    </a:lnTo>
                    <a:lnTo>
                      <a:pt x="0" y="2540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9E2EF"/>
                </a:solidFill>
                <a:prstDash val="solid"/>
                <a:miter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0" y="-38100"/>
                <a:ext cx="4064000" cy="2578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2" name="TextBox 42"/>
            <p:cNvSpPr txBox="1"/>
            <p:nvPr/>
          </p:nvSpPr>
          <p:spPr>
            <a:xfrm>
              <a:off x="304800" y="161925"/>
              <a:ext cx="889000" cy="3536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132">
                  <a:solidFill>
                    <a:srgbClr val="1769E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04800" y="1035050"/>
              <a:ext cx="3429000" cy="704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25"/>
                </a:lnSpc>
              </a:pPr>
              <a:r>
                <a:rPr lang="en-US" sz="1875" b="1">
                  <a:solidFill>
                    <a:srgbClr val="14213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Different query</a:t>
              </a:r>
            </a:p>
            <a:p>
              <a:pPr algn="ctr">
                <a:lnSpc>
                  <a:spcPts val="2025"/>
                </a:lnSpc>
              </a:pPr>
              <a:r>
                <a:rPr lang="en-US" sz="1875" b="1">
                  <a:solidFill>
                    <a:srgbClr val="14213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types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0839450" y="5810250"/>
            <a:ext cx="3048000" cy="1905000"/>
            <a:chOff x="0" y="0"/>
            <a:chExt cx="4064000" cy="2540000"/>
          </a:xfrm>
        </p:grpSpPr>
        <p:grpSp>
          <p:nvGrpSpPr>
            <p:cNvPr id="45" name="Group 45"/>
            <p:cNvGrpSpPr/>
            <p:nvPr/>
          </p:nvGrpSpPr>
          <p:grpSpPr>
            <a:xfrm>
              <a:off x="0" y="0"/>
              <a:ext cx="4064000" cy="2540000"/>
              <a:chOff x="0" y="0"/>
              <a:chExt cx="4064000" cy="25400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4064000" cy="2540000"/>
              </a:xfrm>
              <a:custGeom>
                <a:avLst/>
                <a:gdLst/>
                <a:ahLst/>
                <a:cxnLst/>
                <a:rect l="l" t="t" r="r" b="b"/>
                <a:pathLst>
                  <a:path w="4064000" h="2540000">
                    <a:moveTo>
                      <a:pt x="0" y="0"/>
                    </a:moveTo>
                    <a:lnTo>
                      <a:pt x="4064000" y="0"/>
                    </a:lnTo>
                    <a:lnTo>
                      <a:pt x="4064000" y="2540000"/>
                    </a:lnTo>
                    <a:lnTo>
                      <a:pt x="0" y="2540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9E2EF"/>
                </a:solidFill>
                <a:prstDash val="solid"/>
                <a:miter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0" y="-38100"/>
                <a:ext cx="4064000" cy="2578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8" name="TextBox 48"/>
            <p:cNvSpPr txBox="1"/>
            <p:nvPr/>
          </p:nvSpPr>
          <p:spPr>
            <a:xfrm>
              <a:off x="304800" y="161925"/>
              <a:ext cx="889000" cy="3536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132">
                  <a:solidFill>
                    <a:srgbClr val="1769E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04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04800" y="1035050"/>
              <a:ext cx="3429000" cy="704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25"/>
                </a:lnSpc>
              </a:pPr>
              <a:r>
                <a:rPr lang="en-US" sz="1875" b="1">
                  <a:solidFill>
                    <a:srgbClr val="14213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Fast information</a:t>
              </a:r>
            </a:p>
            <a:p>
              <a:pPr algn="ctr">
                <a:lnSpc>
                  <a:spcPts val="2025"/>
                </a:lnSpc>
              </a:pPr>
              <a:r>
                <a:rPr lang="en-US" sz="1875" b="1">
                  <a:solidFill>
                    <a:srgbClr val="14213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retrieval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4173200" y="5810250"/>
            <a:ext cx="3048000" cy="1905000"/>
            <a:chOff x="0" y="0"/>
            <a:chExt cx="4064000" cy="2540000"/>
          </a:xfrm>
        </p:grpSpPr>
        <p:grpSp>
          <p:nvGrpSpPr>
            <p:cNvPr id="51" name="Group 51"/>
            <p:cNvGrpSpPr/>
            <p:nvPr/>
          </p:nvGrpSpPr>
          <p:grpSpPr>
            <a:xfrm>
              <a:off x="0" y="0"/>
              <a:ext cx="4064000" cy="2540000"/>
              <a:chOff x="0" y="0"/>
              <a:chExt cx="4064000" cy="254000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4064000" cy="2540000"/>
              </a:xfrm>
              <a:custGeom>
                <a:avLst/>
                <a:gdLst/>
                <a:ahLst/>
                <a:cxnLst/>
                <a:rect l="l" t="t" r="r" b="b"/>
                <a:pathLst>
                  <a:path w="4064000" h="2540000">
                    <a:moveTo>
                      <a:pt x="0" y="0"/>
                    </a:moveTo>
                    <a:lnTo>
                      <a:pt x="4064000" y="0"/>
                    </a:lnTo>
                    <a:lnTo>
                      <a:pt x="4064000" y="2540000"/>
                    </a:lnTo>
                    <a:lnTo>
                      <a:pt x="0" y="2540000"/>
                    </a:lnTo>
                    <a:close/>
                  </a:path>
                </a:pathLst>
              </a:custGeom>
              <a:solidFill>
                <a:srgbClr val="FFF7E8"/>
              </a:solidFill>
              <a:ln w="9525" cap="sq">
                <a:solidFill>
                  <a:srgbClr val="F59E0B"/>
                </a:solidFill>
                <a:prstDash val="solid"/>
                <a:miter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0" y="-38100"/>
                <a:ext cx="4064000" cy="2578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54" name="TextBox 54"/>
            <p:cNvSpPr txBox="1"/>
            <p:nvPr/>
          </p:nvSpPr>
          <p:spPr>
            <a:xfrm>
              <a:off x="304800" y="161925"/>
              <a:ext cx="889000" cy="3536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132">
                  <a:solidFill>
                    <a:srgbClr val="1769E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05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304800" y="1035050"/>
              <a:ext cx="3429000" cy="704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25"/>
                </a:lnSpc>
              </a:pPr>
              <a:r>
                <a:rPr lang="en-US" sz="1875" b="1">
                  <a:solidFill>
                    <a:srgbClr val="14213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Reduced manual</a:t>
              </a:r>
            </a:p>
            <a:p>
              <a:pPr algn="ctr">
                <a:lnSpc>
                  <a:spcPts val="2025"/>
                </a:lnSpc>
              </a:pPr>
              <a:r>
                <a:rPr lang="en-US" sz="1875" b="1">
                  <a:solidFill>
                    <a:srgbClr val="14213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record searching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38200" y="388144"/>
            <a:ext cx="16640175" cy="469106"/>
            <a:chOff x="0" y="9525"/>
            <a:chExt cx="22186900" cy="625475"/>
          </a:xfrm>
        </p:grpSpPr>
        <p:sp>
          <p:nvSpPr>
            <p:cNvPr id="3" name="TextBox 3"/>
            <p:cNvSpPr txBox="1"/>
            <p:nvPr/>
          </p:nvSpPr>
          <p:spPr>
            <a:xfrm>
              <a:off x="0" y="19050"/>
              <a:ext cx="18415000" cy="4330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2250" b="1">
                  <a:solidFill>
                    <a:srgbClr val="14213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Project Abstract &amp; Objectives</a:t>
              </a:r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0" y="609600"/>
              <a:ext cx="22148800" cy="25400"/>
              <a:chOff x="0" y="0"/>
              <a:chExt cx="22148800" cy="254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221488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2148800" h="25400">
                    <a:moveTo>
                      <a:pt x="0" y="0"/>
                    </a:moveTo>
                    <a:lnTo>
                      <a:pt x="22148800" y="0"/>
                    </a:lnTo>
                    <a:lnTo>
                      <a:pt x="221488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D9E2EF"/>
              </a:solidFill>
              <a:ln w="9525" cap="sq">
                <a:solidFill>
                  <a:srgbClr val="D9E2EF"/>
                </a:solidFill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22148800" cy="63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21043900" y="9525"/>
              <a:ext cx="1143000" cy="3536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310"/>
                </a:lnSpc>
              </a:pPr>
              <a:r>
                <a:rPr lang="en-US" sz="1650" b="1" spc="132">
                  <a:solidFill>
                    <a:srgbClr val="1769E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03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838200" y="1162050"/>
            <a:ext cx="15716250" cy="74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50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This prototype demonstrates a GenAI supervisor coordinating specialized agents to retrieve verified railway ticket and transaction information from SQLite sample data.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38200" y="3143250"/>
            <a:ext cx="5143500" cy="2286000"/>
            <a:chOff x="0" y="0"/>
            <a:chExt cx="6858000" cy="3048000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6858000" cy="3048000"/>
              <a:chOff x="0" y="0"/>
              <a:chExt cx="6858000" cy="30480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858000" cy="3048000"/>
              </a:xfrm>
              <a:custGeom>
                <a:avLst/>
                <a:gdLst/>
                <a:ahLst/>
                <a:cxnLst/>
                <a:rect l="l" t="t" r="r" b="b"/>
                <a:pathLst>
                  <a:path w="6858000" h="3048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3048000"/>
                    </a:lnTo>
                    <a:lnTo>
                      <a:pt x="0" y="3048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9E2EF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38100"/>
                <a:ext cx="6858000" cy="3086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355600" y="327025"/>
              <a:ext cx="889000" cy="3536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132">
                  <a:solidFill>
                    <a:srgbClr val="1769E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55600" y="1019175"/>
              <a:ext cx="6223000" cy="4093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49"/>
                </a:lnSpc>
              </a:pPr>
              <a:r>
                <a:rPr lang="en-US" sz="2175" b="1">
                  <a:solidFill>
                    <a:srgbClr val="14213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Natural Language Interface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55600" y="1704975"/>
              <a:ext cx="6223000" cy="3486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42"/>
                </a:lnSpc>
              </a:pPr>
              <a:r>
                <a:rPr lang="en-US" sz="1725">
                  <a:solidFill>
                    <a:srgbClr val="14213D"/>
                  </a:solidFill>
                  <a:latin typeface="DM Sans"/>
                  <a:ea typeface="DM Sans"/>
                  <a:cs typeface="DM Sans"/>
                  <a:sym typeface="DM Sans"/>
                </a:rPr>
                <a:t>Accept natural-language railway queries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362700" y="3143250"/>
            <a:ext cx="5143500" cy="2286000"/>
            <a:chOff x="0" y="0"/>
            <a:chExt cx="6858000" cy="3048000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0"/>
              <a:ext cx="6858000" cy="3048000"/>
              <a:chOff x="0" y="0"/>
              <a:chExt cx="6858000" cy="30480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6858000" cy="3048000"/>
              </a:xfrm>
              <a:custGeom>
                <a:avLst/>
                <a:gdLst/>
                <a:ahLst/>
                <a:cxnLst/>
                <a:rect l="l" t="t" r="r" b="b"/>
                <a:pathLst>
                  <a:path w="6858000" h="3048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3048000"/>
                    </a:lnTo>
                    <a:lnTo>
                      <a:pt x="0" y="3048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1769E0"/>
                </a:solidFill>
                <a:prstDash val="solid"/>
                <a:miter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6858000" cy="3086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355600" y="327025"/>
              <a:ext cx="889000" cy="3536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132">
                  <a:solidFill>
                    <a:srgbClr val="1769E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55600" y="1019175"/>
              <a:ext cx="6223000" cy="4093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49"/>
                </a:lnSpc>
              </a:pPr>
              <a:r>
                <a:rPr lang="en-US" sz="2175" b="1">
                  <a:solidFill>
                    <a:srgbClr val="14213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GenAI Supervisor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55600" y="1704975"/>
              <a:ext cx="6223000" cy="3486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42"/>
                </a:lnSpc>
              </a:pPr>
              <a:r>
                <a:rPr lang="en-US" sz="1725">
                  <a:solidFill>
                    <a:srgbClr val="14213D"/>
                  </a:solidFill>
                  <a:latin typeface="DM Sans"/>
                  <a:ea typeface="DM Sans"/>
                  <a:cs typeface="DM Sans"/>
                  <a:sym typeface="DM Sans"/>
                </a:rPr>
                <a:t>Qwen2.5-3B-Instruct understands and routes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1887200" y="3143250"/>
            <a:ext cx="5143500" cy="2286000"/>
            <a:chOff x="0" y="0"/>
            <a:chExt cx="6858000" cy="3048000"/>
          </a:xfrm>
        </p:grpSpPr>
        <p:grpSp>
          <p:nvGrpSpPr>
            <p:cNvPr id="25" name="Group 25"/>
            <p:cNvGrpSpPr/>
            <p:nvPr/>
          </p:nvGrpSpPr>
          <p:grpSpPr>
            <a:xfrm>
              <a:off x="0" y="0"/>
              <a:ext cx="6858000" cy="3048000"/>
              <a:chOff x="0" y="0"/>
              <a:chExt cx="6858000" cy="30480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6858000" cy="3048000"/>
              </a:xfrm>
              <a:custGeom>
                <a:avLst/>
                <a:gdLst/>
                <a:ahLst/>
                <a:cxnLst/>
                <a:rect l="l" t="t" r="r" b="b"/>
                <a:pathLst>
                  <a:path w="6858000" h="3048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3048000"/>
                    </a:lnTo>
                    <a:lnTo>
                      <a:pt x="0" y="3048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9E2EF"/>
                </a:solidFill>
                <a:prstDash val="solid"/>
                <a:miter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0" y="-38100"/>
                <a:ext cx="6858000" cy="3086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355600" y="327025"/>
              <a:ext cx="889000" cy="3536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132">
                  <a:solidFill>
                    <a:srgbClr val="1769E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55600" y="1019175"/>
              <a:ext cx="6223000" cy="4093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49"/>
                </a:lnSpc>
              </a:pPr>
              <a:r>
                <a:rPr lang="en-US" sz="2175" b="1">
                  <a:solidFill>
                    <a:srgbClr val="14213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Specialized Agents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55600" y="1704975"/>
              <a:ext cx="6223000" cy="3486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42"/>
                </a:lnSpc>
              </a:pPr>
              <a:r>
                <a:rPr lang="en-US" sz="1725">
                  <a:solidFill>
                    <a:srgbClr val="14213D"/>
                  </a:solidFill>
                  <a:latin typeface="DM Sans"/>
                  <a:ea typeface="DM Sans"/>
                  <a:cs typeface="DM Sans"/>
                  <a:sym typeface="DM Sans"/>
                </a:rPr>
                <a:t>Ticket, Transaction, Passenger, Admin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38200" y="5905500"/>
            <a:ext cx="5143500" cy="2286000"/>
            <a:chOff x="0" y="0"/>
            <a:chExt cx="6858000" cy="3048000"/>
          </a:xfrm>
        </p:grpSpPr>
        <p:grpSp>
          <p:nvGrpSpPr>
            <p:cNvPr id="32" name="Group 32"/>
            <p:cNvGrpSpPr/>
            <p:nvPr/>
          </p:nvGrpSpPr>
          <p:grpSpPr>
            <a:xfrm>
              <a:off x="0" y="0"/>
              <a:ext cx="6858000" cy="3048000"/>
              <a:chOff x="0" y="0"/>
              <a:chExt cx="6858000" cy="30480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6858000" cy="3048000"/>
              </a:xfrm>
              <a:custGeom>
                <a:avLst/>
                <a:gdLst/>
                <a:ahLst/>
                <a:cxnLst/>
                <a:rect l="l" t="t" r="r" b="b"/>
                <a:pathLst>
                  <a:path w="6858000" h="3048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3048000"/>
                    </a:lnTo>
                    <a:lnTo>
                      <a:pt x="0" y="3048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9E2EF"/>
                </a:solidFill>
                <a:prstDash val="solid"/>
                <a:miter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0" y="-38100"/>
                <a:ext cx="6858000" cy="3086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5" name="TextBox 35"/>
            <p:cNvSpPr txBox="1"/>
            <p:nvPr/>
          </p:nvSpPr>
          <p:spPr>
            <a:xfrm>
              <a:off x="355600" y="327025"/>
              <a:ext cx="889000" cy="3536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132">
                  <a:solidFill>
                    <a:srgbClr val="1769E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04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55600" y="1019175"/>
              <a:ext cx="6223000" cy="4093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49"/>
                </a:lnSpc>
              </a:pPr>
              <a:r>
                <a:rPr lang="en-US" sz="2175" b="1">
                  <a:solidFill>
                    <a:srgbClr val="14213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Database Integration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55600" y="1704975"/>
              <a:ext cx="6223000" cy="3486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42"/>
                </a:lnSpc>
              </a:pPr>
              <a:r>
                <a:rPr lang="en-US" sz="1725">
                  <a:solidFill>
                    <a:srgbClr val="14213D"/>
                  </a:solidFill>
                  <a:latin typeface="DM Sans"/>
                  <a:ea typeface="DM Sans"/>
                  <a:cs typeface="DM Sans"/>
                  <a:sym typeface="DM Sans"/>
                </a:rPr>
                <a:t>Connect agents to SQLite records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362700" y="5905500"/>
            <a:ext cx="5143500" cy="2286000"/>
            <a:chOff x="0" y="0"/>
            <a:chExt cx="6858000" cy="3048000"/>
          </a:xfrm>
        </p:grpSpPr>
        <p:grpSp>
          <p:nvGrpSpPr>
            <p:cNvPr id="39" name="Group 39"/>
            <p:cNvGrpSpPr/>
            <p:nvPr/>
          </p:nvGrpSpPr>
          <p:grpSpPr>
            <a:xfrm>
              <a:off x="0" y="0"/>
              <a:ext cx="6858000" cy="3048000"/>
              <a:chOff x="0" y="0"/>
              <a:chExt cx="6858000" cy="30480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6858000" cy="3048000"/>
              </a:xfrm>
              <a:custGeom>
                <a:avLst/>
                <a:gdLst/>
                <a:ahLst/>
                <a:cxnLst/>
                <a:rect l="l" t="t" r="r" b="b"/>
                <a:pathLst>
                  <a:path w="6858000" h="3048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3048000"/>
                    </a:lnTo>
                    <a:lnTo>
                      <a:pt x="0" y="3048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9E2EF"/>
                </a:solidFill>
                <a:prstDash val="solid"/>
                <a:miter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0" y="-38100"/>
                <a:ext cx="6858000" cy="3086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2" name="TextBox 42"/>
            <p:cNvSpPr txBox="1"/>
            <p:nvPr/>
          </p:nvSpPr>
          <p:spPr>
            <a:xfrm>
              <a:off x="355600" y="327025"/>
              <a:ext cx="889000" cy="3536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132">
                  <a:solidFill>
                    <a:srgbClr val="1769E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05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55600" y="1019175"/>
              <a:ext cx="6223000" cy="4093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49"/>
                </a:lnSpc>
              </a:pPr>
              <a:r>
                <a:rPr lang="en-US" sz="2175" b="1">
                  <a:solidFill>
                    <a:srgbClr val="14213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Verified Retrieval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55600" y="1704975"/>
              <a:ext cx="6223000" cy="3486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42"/>
                </a:lnSpc>
              </a:pPr>
              <a:r>
                <a:rPr lang="en-US" sz="1725">
                  <a:solidFill>
                    <a:srgbClr val="14213D"/>
                  </a:solidFill>
                  <a:latin typeface="DM Sans"/>
                  <a:ea typeface="DM Sans"/>
                  <a:cs typeface="DM Sans"/>
                  <a:sym typeface="DM Sans"/>
                </a:rPr>
                <a:t>Return database-grounded information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1887200" y="5905500"/>
            <a:ext cx="5143500" cy="2286000"/>
            <a:chOff x="0" y="0"/>
            <a:chExt cx="6858000" cy="3048000"/>
          </a:xfrm>
        </p:grpSpPr>
        <p:grpSp>
          <p:nvGrpSpPr>
            <p:cNvPr id="46" name="Group 46"/>
            <p:cNvGrpSpPr/>
            <p:nvPr/>
          </p:nvGrpSpPr>
          <p:grpSpPr>
            <a:xfrm>
              <a:off x="0" y="0"/>
              <a:ext cx="6858000" cy="3048000"/>
              <a:chOff x="0" y="0"/>
              <a:chExt cx="6858000" cy="304800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6858000" cy="3048000"/>
              </a:xfrm>
              <a:custGeom>
                <a:avLst/>
                <a:gdLst/>
                <a:ahLst/>
                <a:cxnLst/>
                <a:rect l="l" t="t" r="r" b="b"/>
                <a:pathLst>
                  <a:path w="6858000" h="3048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3048000"/>
                    </a:lnTo>
                    <a:lnTo>
                      <a:pt x="0" y="3048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9E2EF"/>
                </a:solidFill>
                <a:prstDash val="solid"/>
                <a:miter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0" y="-38100"/>
                <a:ext cx="6858000" cy="3086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9" name="TextBox 49"/>
            <p:cNvSpPr txBox="1"/>
            <p:nvPr/>
          </p:nvSpPr>
          <p:spPr>
            <a:xfrm>
              <a:off x="355600" y="327025"/>
              <a:ext cx="889000" cy="3536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132">
                  <a:solidFill>
                    <a:srgbClr val="1769E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06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55600" y="1019175"/>
              <a:ext cx="6223000" cy="4093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49"/>
                </a:lnSpc>
              </a:pPr>
              <a:r>
                <a:rPr lang="en-US" sz="2175" b="1">
                  <a:solidFill>
                    <a:srgbClr val="14213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Interactive Dashboard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55600" y="1704975"/>
              <a:ext cx="6223000" cy="3486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42"/>
                </a:lnSpc>
              </a:pPr>
              <a:r>
                <a:rPr lang="en-US" sz="1725">
                  <a:solidFill>
                    <a:srgbClr val="14213D"/>
                  </a:solidFill>
                  <a:latin typeface="DM Sans"/>
                  <a:ea typeface="DM Sans"/>
                  <a:cs typeface="DM Sans"/>
                  <a:sym typeface="DM Sans"/>
                </a:rPr>
                <a:t>Present results through Streamlit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38200" y="388144"/>
            <a:ext cx="16640175" cy="469106"/>
            <a:chOff x="0" y="9525"/>
            <a:chExt cx="22186900" cy="625475"/>
          </a:xfrm>
        </p:grpSpPr>
        <p:sp>
          <p:nvSpPr>
            <p:cNvPr id="3" name="TextBox 3"/>
            <p:cNvSpPr txBox="1"/>
            <p:nvPr/>
          </p:nvSpPr>
          <p:spPr>
            <a:xfrm>
              <a:off x="0" y="19050"/>
              <a:ext cx="18415000" cy="4330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2250" b="1">
                  <a:solidFill>
                    <a:srgbClr val="14213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Proposed GenAI Multi-Agent Architecture</a:t>
              </a:r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0" y="609600"/>
              <a:ext cx="22148800" cy="25400"/>
              <a:chOff x="0" y="0"/>
              <a:chExt cx="22148800" cy="254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221488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2148800" h="25400">
                    <a:moveTo>
                      <a:pt x="0" y="0"/>
                    </a:moveTo>
                    <a:lnTo>
                      <a:pt x="22148800" y="0"/>
                    </a:lnTo>
                    <a:lnTo>
                      <a:pt x="221488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D9E2EF"/>
              </a:solidFill>
              <a:ln w="9525" cap="sq">
                <a:solidFill>
                  <a:srgbClr val="D9E2EF"/>
                </a:solidFill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22148800" cy="63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21043900" y="9525"/>
              <a:ext cx="1143000" cy="3536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310"/>
                </a:lnSpc>
              </a:pPr>
              <a:r>
                <a:rPr lang="en-US" sz="1650" b="1" spc="132">
                  <a:solidFill>
                    <a:srgbClr val="1769E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04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52500" y="1428750"/>
            <a:ext cx="2857500" cy="1000125"/>
            <a:chOff x="0" y="0"/>
            <a:chExt cx="3810000" cy="13335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810000" cy="1333500"/>
            </a:xfrm>
            <a:custGeom>
              <a:avLst/>
              <a:gdLst/>
              <a:ahLst/>
              <a:cxnLst/>
              <a:rect l="l" t="t" r="r" b="b"/>
              <a:pathLst>
                <a:path w="3810000" h="1333500">
                  <a:moveTo>
                    <a:pt x="59267" y="0"/>
                  </a:moveTo>
                  <a:lnTo>
                    <a:pt x="3750733" y="0"/>
                  </a:lnTo>
                  <a:cubicBezTo>
                    <a:pt x="3783466" y="0"/>
                    <a:pt x="3810000" y="26535"/>
                    <a:pt x="3810000" y="59267"/>
                  </a:cubicBezTo>
                  <a:lnTo>
                    <a:pt x="3810000" y="1274233"/>
                  </a:lnTo>
                  <a:cubicBezTo>
                    <a:pt x="3810000" y="1306965"/>
                    <a:pt x="3783466" y="1333500"/>
                    <a:pt x="3750733" y="1333500"/>
                  </a:cubicBezTo>
                  <a:lnTo>
                    <a:pt x="59267" y="1333500"/>
                  </a:lnTo>
                  <a:cubicBezTo>
                    <a:pt x="26535" y="1333500"/>
                    <a:pt x="0" y="1306965"/>
                    <a:pt x="0" y="1274233"/>
                  </a:cubicBezTo>
                  <a:lnTo>
                    <a:pt x="0" y="59267"/>
                  </a:lnTo>
                  <a:cubicBezTo>
                    <a:pt x="0" y="26535"/>
                    <a:pt x="26535" y="0"/>
                    <a:pt x="59267" y="0"/>
                  </a:cubicBezTo>
                  <a:close/>
                </a:path>
              </a:pathLst>
            </a:custGeom>
            <a:solidFill>
              <a:srgbClr val="EAF2FF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9525"/>
              <a:ext cx="3810000" cy="1323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4213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USER</a:t>
              </a:r>
            </a:p>
          </p:txBody>
        </p:sp>
      </p:grpSp>
      <p:sp>
        <p:nvSpPr>
          <p:cNvPr id="12" name="AutoShape 12"/>
          <p:cNvSpPr/>
          <p:nvPr/>
        </p:nvSpPr>
        <p:spPr>
          <a:xfrm>
            <a:off x="3857625" y="1924050"/>
            <a:ext cx="1047750" cy="0"/>
          </a:xfrm>
          <a:prstGeom prst="line">
            <a:avLst/>
          </a:prstGeom>
          <a:ln w="28575" cap="rnd">
            <a:solidFill>
              <a:srgbClr val="1769E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3" name="Group 13"/>
          <p:cNvGrpSpPr/>
          <p:nvPr/>
        </p:nvGrpSpPr>
        <p:grpSpPr>
          <a:xfrm>
            <a:off x="4953000" y="1428750"/>
            <a:ext cx="2857500" cy="1000125"/>
            <a:chOff x="0" y="0"/>
            <a:chExt cx="3810000" cy="13335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810000" cy="1333500"/>
            </a:xfrm>
            <a:custGeom>
              <a:avLst/>
              <a:gdLst/>
              <a:ahLst/>
              <a:cxnLst/>
              <a:rect l="l" t="t" r="r" b="b"/>
              <a:pathLst>
                <a:path w="3810000" h="1333500">
                  <a:moveTo>
                    <a:pt x="59267" y="0"/>
                  </a:moveTo>
                  <a:lnTo>
                    <a:pt x="3750733" y="0"/>
                  </a:lnTo>
                  <a:cubicBezTo>
                    <a:pt x="3783466" y="0"/>
                    <a:pt x="3810000" y="26535"/>
                    <a:pt x="3810000" y="59267"/>
                  </a:cubicBezTo>
                  <a:lnTo>
                    <a:pt x="3810000" y="1274233"/>
                  </a:lnTo>
                  <a:cubicBezTo>
                    <a:pt x="3810000" y="1306965"/>
                    <a:pt x="3783466" y="1333500"/>
                    <a:pt x="3750733" y="1333500"/>
                  </a:cubicBezTo>
                  <a:lnTo>
                    <a:pt x="59267" y="1333500"/>
                  </a:lnTo>
                  <a:cubicBezTo>
                    <a:pt x="26535" y="1333500"/>
                    <a:pt x="0" y="1306965"/>
                    <a:pt x="0" y="1274233"/>
                  </a:cubicBezTo>
                  <a:lnTo>
                    <a:pt x="0" y="59267"/>
                  </a:lnTo>
                  <a:cubicBezTo>
                    <a:pt x="0" y="26535"/>
                    <a:pt x="26535" y="0"/>
                    <a:pt x="59267" y="0"/>
                  </a:cubicBezTo>
                  <a:close/>
                </a:path>
              </a:pathLst>
            </a:custGeom>
            <a:solidFill>
              <a:srgbClr val="EAF2FF"/>
            </a:solidFill>
            <a:ln cap="sq">
              <a:noFill/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9525"/>
              <a:ext cx="3810000" cy="1323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4213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NATURAL LANGUAGE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4213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QUERY</a:t>
              </a:r>
            </a:p>
          </p:txBody>
        </p:sp>
      </p:grpSp>
      <p:sp>
        <p:nvSpPr>
          <p:cNvPr id="16" name="AutoShape 16"/>
          <p:cNvSpPr/>
          <p:nvPr/>
        </p:nvSpPr>
        <p:spPr>
          <a:xfrm>
            <a:off x="7858125" y="1924050"/>
            <a:ext cx="1047750" cy="0"/>
          </a:xfrm>
          <a:prstGeom prst="line">
            <a:avLst/>
          </a:prstGeom>
          <a:ln w="28575" cap="rnd">
            <a:solidFill>
              <a:srgbClr val="1769E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7" name="Group 17"/>
          <p:cNvGrpSpPr/>
          <p:nvPr/>
        </p:nvGrpSpPr>
        <p:grpSpPr>
          <a:xfrm>
            <a:off x="8953500" y="1428750"/>
            <a:ext cx="2857500" cy="1000125"/>
            <a:chOff x="0" y="0"/>
            <a:chExt cx="3810000" cy="13335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810000" cy="1333500"/>
            </a:xfrm>
            <a:custGeom>
              <a:avLst/>
              <a:gdLst/>
              <a:ahLst/>
              <a:cxnLst/>
              <a:rect l="l" t="t" r="r" b="b"/>
              <a:pathLst>
                <a:path w="3810000" h="1333500">
                  <a:moveTo>
                    <a:pt x="59267" y="0"/>
                  </a:moveTo>
                  <a:lnTo>
                    <a:pt x="3750733" y="0"/>
                  </a:lnTo>
                  <a:cubicBezTo>
                    <a:pt x="3783466" y="0"/>
                    <a:pt x="3810000" y="26535"/>
                    <a:pt x="3810000" y="59267"/>
                  </a:cubicBezTo>
                  <a:lnTo>
                    <a:pt x="3810000" y="1274233"/>
                  </a:lnTo>
                  <a:cubicBezTo>
                    <a:pt x="3810000" y="1306965"/>
                    <a:pt x="3783466" y="1333500"/>
                    <a:pt x="3750733" y="1333500"/>
                  </a:cubicBezTo>
                  <a:lnTo>
                    <a:pt x="59267" y="1333500"/>
                  </a:lnTo>
                  <a:cubicBezTo>
                    <a:pt x="26535" y="1333500"/>
                    <a:pt x="0" y="1306965"/>
                    <a:pt x="0" y="1274233"/>
                  </a:cubicBezTo>
                  <a:lnTo>
                    <a:pt x="0" y="59267"/>
                  </a:lnTo>
                  <a:cubicBezTo>
                    <a:pt x="0" y="26535"/>
                    <a:pt x="26535" y="0"/>
                    <a:pt x="59267" y="0"/>
                  </a:cubicBezTo>
                  <a:close/>
                </a:path>
              </a:pathLst>
            </a:custGeom>
            <a:solidFill>
              <a:srgbClr val="1769E0"/>
            </a:solidFill>
            <a:ln cap="sq">
              <a:noFill/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9525"/>
              <a:ext cx="3810000" cy="1323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QWEN GenAI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SUPERVISOR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762750" y="3571875"/>
            <a:ext cx="2857500" cy="781050"/>
            <a:chOff x="0" y="0"/>
            <a:chExt cx="3810000" cy="10414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810000" cy="1041400"/>
            </a:xfrm>
            <a:custGeom>
              <a:avLst/>
              <a:gdLst/>
              <a:ahLst/>
              <a:cxnLst/>
              <a:rect l="l" t="t" r="r" b="b"/>
              <a:pathLst>
                <a:path w="3810000" h="1041400">
                  <a:moveTo>
                    <a:pt x="59267" y="0"/>
                  </a:moveTo>
                  <a:lnTo>
                    <a:pt x="3750733" y="0"/>
                  </a:lnTo>
                  <a:cubicBezTo>
                    <a:pt x="3783466" y="0"/>
                    <a:pt x="3810000" y="26535"/>
                    <a:pt x="3810000" y="59267"/>
                  </a:cubicBezTo>
                  <a:lnTo>
                    <a:pt x="3810000" y="982133"/>
                  </a:lnTo>
                  <a:cubicBezTo>
                    <a:pt x="3810000" y="1014865"/>
                    <a:pt x="3783466" y="1041400"/>
                    <a:pt x="3750733" y="1041400"/>
                  </a:cubicBezTo>
                  <a:lnTo>
                    <a:pt x="59267" y="1041400"/>
                  </a:lnTo>
                  <a:cubicBezTo>
                    <a:pt x="26535" y="1041400"/>
                    <a:pt x="0" y="1014865"/>
                    <a:pt x="0" y="982133"/>
                  </a:cubicBezTo>
                  <a:lnTo>
                    <a:pt x="0" y="59267"/>
                  </a:lnTo>
                  <a:cubicBezTo>
                    <a:pt x="0" y="26535"/>
                    <a:pt x="26535" y="0"/>
                    <a:pt x="59267" y="0"/>
                  </a:cubicBezTo>
                  <a:close/>
                </a:path>
              </a:pathLst>
            </a:custGeom>
            <a:solidFill>
              <a:srgbClr val="EAF2FF"/>
            </a:solidFill>
            <a:ln cap="sq">
              <a:noFill/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9525"/>
              <a:ext cx="3810000" cy="1031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4213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TICKET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4213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AGENT</a:t>
              </a:r>
            </a:p>
          </p:txBody>
        </p:sp>
      </p:grpSp>
      <p:sp>
        <p:nvSpPr>
          <p:cNvPr id="23" name="AutoShape 23"/>
          <p:cNvSpPr/>
          <p:nvPr/>
        </p:nvSpPr>
        <p:spPr>
          <a:xfrm flipH="1">
            <a:off x="9667875" y="2428875"/>
            <a:ext cx="1857375" cy="1533525"/>
          </a:xfrm>
          <a:prstGeom prst="line">
            <a:avLst/>
          </a:prstGeom>
          <a:ln w="28575" cap="rnd">
            <a:solidFill>
              <a:srgbClr val="1769E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4" name="Group 24"/>
          <p:cNvGrpSpPr/>
          <p:nvPr/>
        </p:nvGrpSpPr>
        <p:grpSpPr>
          <a:xfrm>
            <a:off x="6762750" y="4762500"/>
            <a:ext cx="2857500" cy="781050"/>
            <a:chOff x="0" y="0"/>
            <a:chExt cx="3810000" cy="10414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810000" cy="1041400"/>
            </a:xfrm>
            <a:custGeom>
              <a:avLst/>
              <a:gdLst/>
              <a:ahLst/>
              <a:cxnLst/>
              <a:rect l="l" t="t" r="r" b="b"/>
              <a:pathLst>
                <a:path w="3810000" h="1041400">
                  <a:moveTo>
                    <a:pt x="59267" y="0"/>
                  </a:moveTo>
                  <a:lnTo>
                    <a:pt x="3750733" y="0"/>
                  </a:lnTo>
                  <a:cubicBezTo>
                    <a:pt x="3783466" y="0"/>
                    <a:pt x="3810000" y="26535"/>
                    <a:pt x="3810000" y="59267"/>
                  </a:cubicBezTo>
                  <a:lnTo>
                    <a:pt x="3810000" y="982133"/>
                  </a:lnTo>
                  <a:cubicBezTo>
                    <a:pt x="3810000" y="1014865"/>
                    <a:pt x="3783466" y="1041400"/>
                    <a:pt x="3750733" y="1041400"/>
                  </a:cubicBezTo>
                  <a:lnTo>
                    <a:pt x="59267" y="1041400"/>
                  </a:lnTo>
                  <a:cubicBezTo>
                    <a:pt x="26535" y="1041400"/>
                    <a:pt x="0" y="1014865"/>
                    <a:pt x="0" y="982133"/>
                  </a:cubicBezTo>
                  <a:lnTo>
                    <a:pt x="0" y="59267"/>
                  </a:lnTo>
                  <a:cubicBezTo>
                    <a:pt x="0" y="26535"/>
                    <a:pt x="26535" y="0"/>
                    <a:pt x="59267" y="0"/>
                  </a:cubicBezTo>
                  <a:close/>
                </a:path>
              </a:pathLst>
            </a:custGeom>
            <a:solidFill>
              <a:srgbClr val="FFF7E8"/>
            </a:solidFill>
            <a:ln cap="sq">
              <a:noFill/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9525"/>
              <a:ext cx="3810000" cy="1031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4213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TRANSACTION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4213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AGENT</a:t>
              </a:r>
            </a:p>
          </p:txBody>
        </p:sp>
      </p:grpSp>
      <p:sp>
        <p:nvSpPr>
          <p:cNvPr id="27" name="AutoShape 27"/>
          <p:cNvSpPr/>
          <p:nvPr/>
        </p:nvSpPr>
        <p:spPr>
          <a:xfrm flipH="1">
            <a:off x="9667875" y="2428875"/>
            <a:ext cx="1857375" cy="2724150"/>
          </a:xfrm>
          <a:prstGeom prst="line">
            <a:avLst/>
          </a:prstGeom>
          <a:ln w="28575" cap="rnd">
            <a:solidFill>
              <a:srgbClr val="D64045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8" name="Group 28"/>
          <p:cNvGrpSpPr/>
          <p:nvPr/>
        </p:nvGrpSpPr>
        <p:grpSpPr>
          <a:xfrm>
            <a:off x="6762750" y="5953125"/>
            <a:ext cx="2857500" cy="781050"/>
            <a:chOff x="0" y="0"/>
            <a:chExt cx="3810000" cy="10414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810000" cy="1041400"/>
            </a:xfrm>
            <a:custGeom>
              <a:avLst/>
              <a:gdLst/>
              <a:ahLst/>
              <a:cxnLst/>
              <a:rect l="l" t="t" r="r" b="b"/>
              <a:pathLst>
                <a:path w="3810000" h="1041400">
                  <a:moveTo>
                    <a:pt x="59267" y="0"/>
                  </a:moveTo>
                  <a:lnTo>
                    <a:pt x="3750733" y="0"/>
                  </a:lnTo>
                  <a:cubicBezTo>
                    <a:pt x="3783466" y="0"/>
                    <a:pt x="3810000" y="26535"/>
                    <a:pt x="3810000" y="59267"/>
                  </a:cubicBezTo>
                  <a:lnTo>
                    <a:pt x="3810000" y="982133"/>
                  </a:lnTo>
                  <a:cubicBezTo>
                    <a:pt x="3810000" y="1014865"/>
                    <a:pt x="3783466" y="1041400"/>
                    <a:pt x="3750733" y="1041400"/>
                  </a:cubicBezTo>
                  <a:lnTo>
                    <a:pt x="59267" y="1041400"/>
                  </a:lnTo>
                  <a:cubicBezTo>
                    <a:pt x="26535" y="1041400"/>
                    <a:pt x="0" y="1014865"/>
                    <a:pt x="0" y="982133"/>
                  </a:cubicBezTo>
                  <a:lnTo>
                    <a:pt x="0" y="59267"/>
                  </a:lnTo>
                  <a:cubicBezTo>
                    <a:pt x="0" y="26535"/>
                    <a:pt x="26535" y="0"/>
                    <a:pt x="59267" y="0"/>
                  </a:cubicBezTo>
                  <a:close/>
                </a:path>
              </a:pathLst>
            </a:custGeom>
            <a:solidFill>
              <a:srgbClr val="EAF2FF"/>
            </a:solidFill>
            <a:ln cap="sq">
              <a:noFill/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9525"/>
              <a:ext cx="3810000" cy="1031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4213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PASSENGER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4213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AGENT</a:t>
              </a:r>
            </a:p>
          </p:txBody>
        </p:sp>
      </p:grpSp>
      <p:sp>
        <p:nvSpPr>
          <p:cNvPr id="31" name="AutoShape 31"/>
          <p:cNvSpPr/>
          <p:nvPr/>
        </p:nvSpPr>
        <p:spPr>
          <a:xfrm flipH="1">
            <a:off x="9667875" y="2428875"/>
            <a:ext cx="1857375" cy="3914775"/>
          </a:xfrm>
          <a:prstGeom prst="line">
            <a:avLst/>
          </a:prstGeom>
          <a:ln w="28575" cap="rnd">
            <a:solidFill>
              <a:srgbClr val="1769E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32" name="Group 32"/>
          <p:cNvGrpSpPr/>
          <p:nvPr/>
        </p:nvGrpSpPr>
        <p:grpSpPr>
          <a:xfrm>
            <a:off x="6762750" y="7143750"/>
            <a:ext cx="2857500" cy="781050"/>
            <a:chOff x="0" y="0"/>
            <a:chExt cx="3810000" cy="10414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810000" cy="1041400"/>
            </a:xfrm>
            <a:custGeom>
              <a:avLst/>
              <a:gdLst/>
              <a:ahLst/>
              <a:cxnLst/>
              <a:rect l="l" t="t" r="r" b="b"/>
              <a:pathLst>
                <a:path w="3810000" h="1041400">
                  <a:moveTo>
                    <a:pt x="59267" y="0"/>
                  </a:moveTo>
                  <a:lnTo>
                    <a:pt x="3750733" y="0"/>
                  </a:lnTo>
                  <a:cubicBezTo>
                    <a:pt x="3783466" y="0"/>
                    <a:pt x="3810000" y="26535"/>
                    <a:pt x="3810000" y="59267"/>
                  </a:cubicBezTo>
                  <a:lnTo>
                    <a:pt x="3810000" y="982133"/>
                  </a:lnTo>
                  <a:cubicBezTo>
                    <a:pt x="3810000" y="1014865"/>
                    <a:pt x="3783466" y="1041400"/>
                    <a:pt x="3750733" y="1041400"/>
                  </a:cubicBezTo>
                  <a:lnTo>
                    <a:pt x="59267" y="1041400"/>
                  </a:lnTo>
                  <a:cubicBezTo>
                    <a:pt x="26535" y="1041400"/>
                    <a:pt x="0" y="1014865"/>
                    <a:pt x="0" y="982133"/>
                  </a:cubicBezTo>
                  <a:lnTo>
                    <a:pt x="0" y="59267"/>
                  </a:lnTo>
                  <a:cubicBezTo>
                    <a:pt x="0" y="26535"/>
                    <a:pt x="26535" y="0"/>
                    <a:pt x="59267" y="0"/>
                  </a:cubicBezTo>
                  <a:close/>
                </a:path>
              </a:pathLst>
            </a:custGeom>
            <a:solidFill>
              <a:srgbClr val="FFF7E8"/>
            </a:solidFill>
            <a:ln cap="sq">
              <a:noFill/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9525"/>
              <a:ext cx="3810000" cy="1031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4213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ADMIN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4213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AGENT</a:t>
              </a:r>
            </a:p>
          </p:txBody>
        </p:sp>
      </p:grpSp>
      <p:sp>
        <p:nvSpPr>
          <p:cNvPr id="35" name="AutoShape 35"/>
          <p:cNvSpPr/>
          <p:nvPr/>
        </p:nvSpPr>
        <p:spPr>
          <a:xfrm flipH="1">
            <a:off x="9667875" y="2428875"/>
            <a:ext cx="1857375" cy="5105400"/>
          </a:xfrm>
          <a:prstGeom prst="line">
            <a:avLst/>
          </a:prstGeom>
          <a:ln w="28575" cap="rnd">
            <a:solidFill>
              <a:srgbClr val="1769E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36" name="Group 36"/>
          <p:cNvGrpSpPr/>
          <p:nvPr/>
        </p:nvGrpSpPr>
        <p:grpSpPr>
          <a:xfrm>
            <a:off x="11144250" y="4476750"/>
            <a:ext cx="2857500" cy="1190625"/>
            <a:chOff x="0" y="0"/>
            <a:chExt cx="3810000" cy="15875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810000" cy="1587500"/>
            </a:xfrm>
            <a:custGeom>
              <a:avLst/>
              <a:gdLst/>
              <a:ahLst/>
              <a:cxnLst/>
              <a:rect l="l" t="t" r="r" b="b"/>
              <a:pathLst>
                <a:path w="3810000" h="1587500">
                  <a:moveTo>
                    <a:pt x="59267" y="0"/>
                  </a:moveTo>
                  <a:lnTo>
                    <a:pt x="3750733" y="0"/>
                  </a:lnTo>
                  <a:cubicBezTo>
                    <a:pt x="3783466" y="0"/>
                    <a:pt x="3810000" y="26535"/>
                    <a:pt x="3810000" y="59267"/>
                  </a:cubicBezTo>
                  <a:lnTo>
                    <a:pt x="3810000" y="1528233"/>
                  </a:lnTo>
                  <a:cubicBezTo>
                    <a:pt x="3810000" y="1560965"/>
                    <a:pt x="3783466" y="1587500"/>
                    <a:pt x="3750733" y="1587500"/>
                  </a:cubicBezTo>
                  <a:lnTo>
                    <a:pt x="59267" y="1587500"/>
                  </a:lnTo>
                  <a:cubicBezTo>
                    <a:pt x="26535" y="1587500"/>
                    <a:pt x="0" y="1560965"/>
                    <a:pt x="0" y="1528233"/>
                  </a:cubicBezTo>
                  <a:lnTo>
                    <a:pt x="0" y="59267"/>
                  </a:lnTo>
                  <a:cubicBezTo>
                    <a:pt x="0" y="26535"/>
                    <a:pt x="26535" y="0"/>
                    <a:pt x="59267" y="0"/>
                  </a:cubicBezTo>
                  <a:close/>
                </a:path>
              </a:pathLst>
            </a:custGeom>
            <a:solidFill>
              <a:srgbClr val="14213D"/>
            </a:solidFill>
            <a:ln cap="sq">
              <a:noFill/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0" y="9525"/>
              <a:ext cx="3810000" cy="1577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SQLITE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DATABASE</a:t>
              </a:r>
            </a:p>
          </p:txBody>
        </p:sp>
      </p:grpSp>
      <p:sp>
        <p:nvSpPr>
          <p:cNvPr id="39" name="AutoShape 39"/>
          <p:cNvSpPr/>
          <p:nvPr/>
        </p:nvSpPr>
        <p:spPr>
          <a:xfrm flipV="1">
            <a:off x="9667875" y="5067300"/>
            <a:ext cx="1428750" cy="314325"/>
          </a:xfrm>
          <a:prstGeom prst="line">
            <a:avLst/>
          </a:prstGeom>
          <a:ln w="28575" cap="rnd">
            <a:solidFill>
              <a:srgbClr val="1769E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40" name="Group 40"/>
          <p:cNvGrpSpPr/>
          <p:nvPr/>
        </p:nvGrpSpPr>
        <p:grpSpPr>
          <a:xfrm>
            <a:off x="14573250" y="4476750"/>
            <a:ext cx="2857500" cy="1190625"/>
            <a:chOff x="0" y="0"/>
            <a:chExt cx="3810000" cy="15875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3810000" cy="1587500"/>
            </a:xfrm>
            <a:custGeom>
              <a:avLst/>
              <a:gdLst/>
              <a:ahLst/>
              <a:cxnLst/>
              <a:rect l="l" t="t" r="r" b="b"/>
              <a:pathLst>
                <a:path w="3810000" h="1587500">
                  <a:moveTo>
                    <a:pt x="59267" y="0"/>
                  </a:moveTo>
                  <a:lnTo>
                    <a:pt x="3750733" y="0"/>
                  </a:lnTo>
                  <a:cubicBezTo>
                    <a:pt x="3783466" y="0"/>
                    <a:pt x="3810000" y="26535"/>
                    <a:pt x="3810000" y="59267"/>
                  </a:cubicBezTo>
                  <a:lnTo>
                    <a:pt x="3810000" y="1528233"/>
                  </a:lnTo>
                  <a:cubicBezTo>
                    <a:pt x="3810000" y="1560965"/>
                    <a:pt x="3783466" y="1587500"/>
                    <a:pt x="3750733" y="1587500"/>
                  </a:cubicBezTo>
                  <a:lnTo>
                    <a:pt x="59267" y="1587500"/>
                  </a:lnTo>
                  <a:cubicBezTo>
                    <a:pt x="26535" y="1587500"/>
                    <a:pt x="0" y="1560965"/>
                    <a:pt x="0" y="1528233"/>
                  </a:cubicBezTo>
                  <a:lnTo>
                    <a:pt x="0" y="59267"/>
                  </a:lnTo>
                  <a:cubicBezTo>
                    <a:pt x="0" y="26535"/>
                    <a:pt x="26535" y="0"/>
                    <a:pt x="59267" y="0"/>
                  </a:cubicBezTo>
                  <a:close/>
                </a:path>
              </a:pathLst>
            </a:custGeom>
            <a:solidFill>
              <a:srgbClr val="E8F7F1"/>
            </a:solidFill>
            <a:ln cap="sq">
              <a:noFill/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0" y="9525"/>
              <a:ext cx="3810000" cy="1577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F9D7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VERIFIED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F9D7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RESULT</a:t>
              </a:r>
            </a:p>
          </p:txBody>
        </p:sp>
      </p:grpSp>
      <p:sp>
        <p:nvSpPr>
          <p:cNvPr id="43" name="AutoShape 43"/>
          <p:cNvSpPr/>
          <p:nvPr/>
        </p:nvSpPr>
        <p:spPr>
          <a:xfrm>
            <a:off x="14049375" y="5067300"/>
            <a:ext cx="476250" cy="0"/>
          </a:xfrm>
          <a:prstGeom prst="line">
            <a:avLst/>
          </a:prstGeom>
          <a:ln w="28575" cap="rnd">
            <a:solidFill>
              <a:srgbClr val="1F9D7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44" name="Group 44"/>
          <p:cNvGrpSpPr/>
          <p:nvPr/>
        </p:nvGrpSpPr>
        <p:grpSpPr>
          <a:xfrm>
            <a:off x="10287000" y="7048500"/>
            <a:ext cx="4762500" cy="1095375"/>
            <a:chOff x="0" y="0"/>
            <a:chExt cx="6350000" cy="14605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6350000" cy="1460500"/>
            </a:xfrm>
            <a:custGeom>
              <a:avLst/>
              <a:gdLst/>
              <a:ahLst/>
              <a:cxnLst/>
              <a:rect l="l" t="t" r="r" b="b"/>
              <a:pathLst>
                <a:path w="6350000" h="1460500">
                  <a:moveTo>
                    <a:pt x="35560" y="0"/>
                  </a:moveTo>
                  <a:lnTo>
                    <a:pt x="6314440" y="0"/>
                  </a:lnTo>
                  <a:cubicBezTo>
                    <a:pt x="6323871" y="0"/>
                    <a:pt x="6332916" y="3746"/>
                    <a:pt x="6339585" y="10415"/>
                  </a:cubicBezTo>
                  <a:cubicBezTo>
                    <a:pt x="6346253" y="17084"/>
                    <a:pt x="6350000" y="26129"/>
                    <a:pt x="6350000" y="35560"/>
                  </a:cubicBezTo>
                  <a:lnTo>
                    <a:pt x="6350000" y="1424940"/>
                  </a:lnTo>
                  <a:cubicBezTo>
                    <a:pt x="6350000" y="1434371"/>
                    <a:pt x="6346253" y="1443416"/>
                    <a:pt x="6339585" y="1450085"/>
                  </a:cubicBezTo>
                  <a:cubicBezTo>
                    <a:pt x="6332916" y="1456754"/>
                    <a:pt x="6323871" y="1460500"/>
                    <a:pt x="6314440" y="1460500"/>
                  </a:cubicBezTo>
                  <a:lnTo>
                    <a:pt x="35560" y="1460500"/>
                  </a:lnTo>
                  <a:cubicBezTo>
                    <a:pt x="15921" y="1460500"/>
                    <a:pt x="0" y="1444579"/>
                    <a:pt x="0" y="1424940"/>
                  </a:cubicBezTo>
                  <a:lnTo>
                    <a:pt x="0" y="35560"/>
                  </a:lnTo>
                  <a:cubicBezTo>
                    <a:pt x="0" y="15921"/>
                    <a:pt x="15921" y="0"/>
                    <a:pt x="35560" y="0"/>
                  </a:cubicBezTo>
                  <a:close/>
                </a:path>
              </a:pathLst>
            </a:custGeom>
            <a:solidFill>
              <a:srgbClr val="EAF2FF"/>
            </a:solidFill>
            <a:ln cap="sq">
              <a:noFill/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0" y="9525"/>
              <a:ext cx="6350000" cy="1450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4213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STREAMLIT ADMINISTRATOR DASHBOARD</a:t>
              </a:r>
            </a:p>
          </p:txBody>
        </p:sp>
      </p:grpSp>
      <p:sp>
        <p:nvSpPr>
          <p:cNvPr id="47" name="AutoShape 47"/>
          <p:cNvSpPr/>
          <p:nvPr/>
        </p:nvSpPr>
        <p:spPr>
          <a:xfrm flipH="1">
            <a:off x="13811250" y="5715000"/>
            <a:ext cx="2190750" cy="1285875"/>
          </a:xfrm>
          <a:prstGeom prst="line">
            <a:avLst/>
          </a:prstGeom>
          <a:ln w="28575" cap="rnd">
            <a:solidFill>
              <a:srgbClr val="1F9D7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48" name="AutoShape 48"/>
          <p:cNvSpPr/>
          <p:nvPr/>
        </p:nvSpPr>
        <p:spPr>
          <a:xfrm flipH="1">
            <a:off x="3810000" y="7600950"/>
            <a:ext cx="6381750" cy="0"/>
          </a:xfrm>
          <a:prstGeom prst="line">
            <a:avLst/>
          </a:prstGeom>
          <a:ln w="28575" cap="rnd">
            <a:solidFill>
              <a:srgbClr val="D64045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49" name="Group 49"/>
          <p:cNvGrpSpPr/>
          <p:nvPr/>
        </p:nvGrpSpPr>
        <p:grpSpPr>
          <a:xfrm>
            <a:off x="952500" y="7048500"/>
            <a:ext cx="2857500" cy="1095375"/>
            <a:chOff x="0" y="0"/>
            <a:chExt cx="3810000" cy="14605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3810000" cy="1460500"/>
            </a:xfrm>
            <a:custGeom>
              <a:avLst/>
              <a:gdLst/>
              <a:ahLst/>
              <a:cxnLst/>
              <a:rect l="l" t="t" r="r" b="b"/>
              <a:pathLst>
                <a:path w="3810000" h="1460500">
                  <a:moveTo>
                    <a:pt x="59267" y="0"/>
                  </a:moveTo>
                  <a:lnTo>
                    <a:pt x="3750733" y="0"/>
                  </a:lnTo>
                  <a:cubicBezTo>
                    <a:pt x="3783466" y="0"/>
                    <a:pt x="3810000" y="26535"/>
                    <a:pt x="3810000" y="59267"/>
                  </a:cubicBezTo>
                  <a:lnTo>
                    <a:pt x="3810000" y="1401233"/>
                  </a:lnTo>
                  <a:cubicBezTo>
                    <a:pt x="3810000" y="1433965"/>
                    <a:pt x="3783466" y="1460500"/>
                    <a:pt x="3750733" y="1460500"/>
                  </a:cubicBezTo>
                  <a:lnTo>
                    <a:pt x="59267" y="1460500"/>
                  </a:lnTo>
                  <a:cubicBezTo>
                    <a:pt x="26535" y="1460500"/>
                    <a:pt x="0" y="1433965"/>
                    <a:pt x="0" y="1401233"/>
                  </a:cubicBezTo>
                  <a:lnTo>
                    <a:pt x="0" y="59267"/>
                  </a:lnTo>
                  <a:cubicBezTo>
                    <a:pt x="0" y="26535"/>
                    <a:pt x="26535" y="0"/>
                    <a:pt x="59267" y="0"/>
                  </a:cubicBezTo>
                  <a:close/>
                </a:path>
              </a:pathLst>
            </a:custGeom>
            <a:solidFill>
              <a:srgbClr val="FFF1F1"/>
            </a:solidFill>
            <a:ln cap="sq">
              <a:noFill/>
              <a:prstDash val="solid"/>
              <a:miter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0" y="9525"/>
              <a:ext cx="3810000" cy="1450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D64045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USER</a:t>
              </a:r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8477250" y="2686050"/>
            <a:ext cx="3048000" cy="215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b="1" spc="102">
                <a:solidFill>
                  <a:srgbClr val="1769E0"/>
                </a:solidFill>
                <a:latin typeface="DM Sans Bold"/>
                <a:ea typeface="DM Sans Bold"/>
                <a:cs typeface="DM Sans Bold"/>
                <a:sym typeface="DM Sans Bold"/>
              </a:rPr>
              <a:t>QUERY UNDERSTANDING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0287000" y="3162300"/>
            <a:ext cx="2381250" cy="215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b="1" spc="102">
                <a:solidFill>
                  <a:srgbClr val="1769E0"/>
                </a:solidFill>
                <a:latin typeface="DM Sans Bold"/>
                <a:ea typeface="DM Sans Bold"/>
                <a:cs typeface="DM Sans Bold"/>
                <a:sym typeface="DM Sans Bold"/>
              </a:rPr>
              <a:t>QUERY ROUTING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1144250" y="5924550"/>
            <a:ext cx="2857500" cy="215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b="1" spc="102">
                <a:solidFill>
                  <a:srgbClr val="1769E0"/>
                </a:solidFill>
                <a:latin typeface="DM Sans Bold"/>
                <a:ea typeface="DM Sans Bold"/>
                <a:cs typeface="DM Sans Bold"/>
                <a:sym typeface="DM Sans Bold"/>
              </a:rPr>
              <a:t>DATABASE RETRIEVAL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4382750" y="6400800"/>
            <a:ext cx="2381250" cy="215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b="1" spc="102">
                <a:solidFill>
                  <a:srgbClr val="1769E0"/>
                </a:solidFill>
                <a:latin typeface="DM Sans Bold"/>
                <a:ea typeface="DM Sans Bold"/>
                <a:cs typeface="DM Sans Bold"/>
                <a:sym typeface="DM Sans Bold"/>
              </a:rPr>
              <a:t>VERIFIED RESULT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38200" y="388144"/>
            <a:ext cx="16640175" cy="469106"/>
            <a:chOff x="0" y="9525"/>
            <a:chExt cx="22186900" cy="625475"/>
          </a:xfrm>
        </p:grpSpPr>
        <p:sp>
          <p:nvSpPr>
            <p:cNvPr id="3" name="TextBox 3"/>
            <p:cNvSpPr txBox="1"/>
            <p:nvPr/>
          </p:nvSpPr>
          <p:spPr>
            <a:xfrm>
              <a:off x="0" y="19050"/>
              <a:ext cx="18415000" cy="4330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2250" b="1">
                  <a:solidFill>
                    <a:srgbClr val="14213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Technical Stack</a:t>
              </a:r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0" y="609600"/>
              <a:ext cx="22148800" cy="25400"/>
              <a:chOff x="0" y="0"/>
              <a:chExt cx="22148800" cy="254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221488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2148800" h="25400">
                    <a:moveTo>
                      <a:pt x="0" y="0"/>
                    </a:moveTo>
                    <a:lnTo>
                      <a:pt x="22148800" y="0"/>
                    </a:lnTo>
                    <a:lnTo>
                      <a:pt x="221488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D9E2EF"/>
              </a:solidFill>
              <a:ln w="9525" cap="sq">
                <a:solidFill>
                  <a:srgbClr val="D9E2EF"/>
                </a:solidFill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22148800" cy="63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21043900" y="9525"/>
              <a:ext cx="1143000" cy="3536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310"/>
                </a:lnSpc>
              </a:pPr>
              <a:r>
                <a:rPr lang="en-US" sz="1650" b="1" spc="132">
                  <a:solidFill>
                    <a:srgbClr val="1769E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05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38200" y="1714500"/>
            <a:ext cx="3810000" cy="2571750"/>
            <a:chOff x="0" y="0"/>
            <a:chExt cx="5080000" cy="3429000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5080000" cy="3429000"/>
              <a:chOff x="0" y="0"/>
              <a:chExt cx="5080000" cy="34290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5080000" cy="3429000"/>
              </a:xfrm>
              <a:custGeom>
                <a:avLst/>
                <a:gdLst/>
                <a:ahLst/>
                <a:cxnLst/>
                <a:rect l="l" t="t" r="r" b="b"/>
                <a:pathLst>
                  <a:path w="5080000" h="3429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3429000"/>
                    </a:lnTo>
                    <a:lnTo>
                      <a:pt x="0" y="3429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9E2EF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5080000" cy="3467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355600" y="361950"/>
              <a:ext cx="4445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b="1" spc="108">
                  <a:solidFill>
                    <a:srgbClr val="1769E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PROGRAMMING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55600" y="1035050"/>
              <a:ext cx="4445000" cy="4330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2250" b="1">
                  <a:solidFill>
                    <a:srgbClr val="14213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Python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55600" y="1870075"/>
              <a:ext cx="4445000" cy="3371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>
                  <a:solidFill>
                    <a:srgbClr val="14213D"/>
                  </a:solidFill>
                  <a:latin typeface="DM Sans"/>
                  <a:ea typeface="DM Sans"/>
                  <a:cs typeface="DM Sans"/>
                  <a:sym typeface="DM Sans"/>
                </a:rPr>
                <a:t>Core implementation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981575" y="1714500"/>
            <a:ext cx="3810000" cy="2571750"/>
            <a:chOff x="0" y="0"/>
            <a:chExt cx="5080000" cy="3429000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5080000" cy="3429000"/>
              <a:chOff x="0" y="0"/>
              <a:chExt cx="5080000" cy="34290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5080000" cy="3429000"/>
              </a:xfrm>
              <a:custGeom>
                <a:avLst/>
                <a:gdLst/>
                <a:ahLst/>
                <a:cxnLst/>
                <a:rect l="l" t="t" r="r" b="b"/>
                <a:pathLst>
                  <a:path w="5080000" h="3429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3429000"/>
                    </a:lnTo>
                    <a:lnTo>
                      <a:pt x="0" y="3429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1769E0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38100"/>
                <a:ext cx="5080000" cy="3467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355600" y="361950"/>
              <a:ext cx="4445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b="1" spc="108">
                  <a:solidFill>
                    <a:srgbClr val="1769E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GENAI / LLM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5600" y="1035050"/>
              <a:ext cx="4445000" cy="4330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2250" b="1">
                  <a:solidFill>
                    <a:srgbClr val="14213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Qwen2.5-3B-Instruct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55600" y="1870075"/>
              <a:ext cx="4445000" cy="6927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>
                  <a:solidFill>
                    <a:srgbClr val="14213D"/>
                  </a:solidFill>
                  <a:latin typeface="DM Sans"/>
                  <a:ea typeface="DM Sans"/>
                  <a:cs typeface="DM Sans"/>
                  <a:sym typeface="DM Sans"/>
                </a:rPr>
                <a:t>Understanding &amp; supervisor routing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124950" y="1714500"/>
            <a:ext cx="3810000" cy="2571750"/>
            <a:chOff x="0" y="0"/>
            <a:chExt cx="5080000" cy="3429000"/>
          </a:xfrm>
        </p:grpSpPr>
        <p:grpSp>
          <p:nvGrpSpPr>
            <p:cNvPr id="24" name="Group 24"/>
            <p:cNvGrpSpPr/>
            <p:nvPr/>
          </p:nvGrpSpPr>
          <p:grpSpPr>
            <a:xfrm>
              <a:off x="0" y="0"/>
              <a:ext cx="5080000" cy="3429000"/>
              <a:chOff x="0" y="0"/>
              <a:chExt cx="5080000" cy="34290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5080000" cy="3429000"/>
              </a:xfrm>
              <a:custGeom>
                <a:avLst/>
                <a:gdLst/>
                <a:ahLst/>
                <a:cxnLst/>
                <a:rect l="l" t="t" r="r" b="b"/>
                <a:pathLst>
                  <a:path w="5080000" h="3429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3429000"/>
                    </a:lnTo>
                    <a:lnTo>
                      <a:pt x="0" y="3429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9E2EF"/>
                </a:solidFill>
                <a:prstDash val="solid"/>
                <a:miter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-38100"/>
                <a:ext cx="5080000" cy="3467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355600" y="361950"/>
              <a:ext cx="4445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b="1" spc="108">
                  <a:solidFill>
                    <a:srgbClr val="1769E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MODEL RUNTIME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55600" y="1044575"/>
              <a:ext cx="4445000" cy="3950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68"/>
                </a:lnSpc>
              </a:pPr>
              <a:r>
                <a:rPr lang="en-US" sz="2100" b="1">
                  <a:solidFill>
                    <a:srgbClr val="14213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Transformers + PyTorch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55600" y="1870075"/>
              <a:ext cx="4445000" cy="3371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>
                  <a:solidFill>
                    <a:srgbClr val="14213D"/>
                  </a:solidFill>
                  <a:latin typeface="DM Sans"/>
                  <a:ea typeface="DM Sans"/>
                  <a:cs typeface="DM Sans"/>
                  <a:sym typeface="DM Sans"/>
                </a:rPr>
                <a:t>Inference on GPU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3268325" y="1714500"/>
            <a:ext cx="3810000" cy="2571750"/>
            <a:chOff x="0" y="0"/>
            <a:chExt cx="5080000" cy="3429000"/>
          </a:xfrm>
        </p:grpSpPr>
        <p:grpSp>
          <p:nvGrpSpPr>
            <p:cNvPr id="31" name="Group 31"/>
            <p:cNvGrpSpPr/>
            <p:nvPr/>
          </p:nvGrpSpPr>
          <p:grpSpPr>
            <a:xfrm>
              <a:off x="0" y="0"/>
              <a:ext cx="5080000" cy="3429000"/>
              <a:chOff x="0" y="0"/>
              <a:chExt cx="5080000" cy="34290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5080000" cy="3429000"/>
              </a:xfrm>
              <a:custGeom>
                <a:avLst/>
                <a:gdLst/>
                <a:ahLst/>
                <a:cxnLst/>
                <a:rect l="l" t="t" r="r" b="b"/>
                <a:pathLst>
                  <a:path w="5080000" h="3429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3429000"/>
                    </a:lnTo>
                    <a:lnTo>
                      <a:pt x="0" y="3429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9E2EF"/>
                </a:solidFill>
                <a:prstDash val="solid"/>
                <a:miter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0" y="-38100"/>
                <a:ext cx="5080000" cy="3467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355600" y="361950"/>
              <a:ext cx="4445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b="1" spc="108">
                  <a:solidFill>
                    <a:srgbClr val="1769E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AGENT ARCHITECTURE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55600" y="1044575"/>
              <a:ext cx="4445000" cy="3808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87"/>
                </a:lnSpc>
              </a:pPr>
              <a:r>
                <a:rPr lang="en-US" sz="2025" b="1">
                  <a:solidFill>
                    <a:srgbClr val="14213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LangGraph + LangChain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55600" y="1870075"/>
              <a:ext cx="4445000" cy="6927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>
                  <a:solidFill>
                    <a:srgbClr val="14213D"/>
                  </a:solidFill>
                  <a:latin typeface="DM Sans"/>
                  <a:ea typeface="DM Sans"/>
                  <a:cs typeface="DM Sans"/>
                  <a:sym typeface="DM Sans"/>
                </a:rPr>
                <a:t>State workflow &amp; conditional routing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838200" y="5381625"/>
            <a:ext cx="5143500" cy="2571750"/>
            <a:chOff x="0" y="0"/>
            <a:chExt cx="6858000" cy="3429000"/>
          </a:xfrm>
        </p:grpSpPr>
        <p:grpSp>
          <p:nvGrpSpPr>
            <p:cNvPr id="38" name="Group 38"/>
            <p:cNvGrpSpPr/>
            <p:nvPr/>
          </p:nvGrpSpPr>
          <p:grpSpPr>
            <a:xfrm>
              <a:off x="0" y="0"/>
              <a:ext cx="6858000" cy="3429000"/>
              <a:chOff x="0" y="0"/>
              <a:chExt cx="6858000" cy="34290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6858000" cy="3429000"/>
              </a:xfrm>
              <a:custGeom>
                <a:avLst/>
                <a:gdLst/>
                <a:ahLst/>
                <a:cxnLst/>
                <a:rect l="l" t="t" r="r" b="b"/>
                <a:pathLst>
                  <a:path w="6858000" h="3429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3429000"/>
                    </a:lnTo>
                    <a:lnTo>
                      <a:pt x="0" y="3429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9E2EF"/>
                </a:solidFill>
                <a:prstDash val="solid"/>
                <a:miter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0" y="-38100"/>
                <a:ext cx="6858000" cy="3467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1" name="TextBox 41"/>
            <p:cNvSpPr txBox="1"/>
            <p:nvPr/>
          </p:nvSpPr>
          <p:spPr>
            <a:xfrm>
              <a:off x="355600" y="361950"/>
              <a:ext cx="6223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b="1" spc="108">
                  <a:solidFill>
                    <a:srgbClr val="1769E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DATABASE &amp; DATA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55600" y="1035050"/>
              <a:ext cx="6223000" cy="4330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2250" b="1">
                  <a:solidFill>
                    <a:srgbClr val="14213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SQLite + Pandas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55600" y="1870075"/>
              <a:ext cx="6223000" cy="3371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>
                  <a:solidFill>
                    <a:srgbClr val="14213D"/>
                  </a:solidFill>
                  <a:latin typeface="DM Sans"/>
                  <a:ea typeface="DM Sans"/>
                  <a:cs typeface="DM Sans"/>
                  <a:sym typeface="DM Sans"/>
                </a:rPr>
                <a:t>Structured storage &amp; inspection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362700" y="5381625"/>
            <a:ext cx="5143500" cy="2571750"/>
            <a:chOff x="0" y="0"/>
            <a:chExt cx="6858000" cy="3429000"/>
          </a:xfrm>
        </p:grpSpPr>
        <p:grpSp>
          <p:nvGrpSpPr>
            <p:cNvPr id="45" name="Group 45"/>
            <p:cNvGrpSpPr/>
            <p:nvPr/>
          </p:nvGrpSpPr>
          <p:grpSpPr>
            <a:xfrm>
              <a:off x="0" y="0"/>
              <a:ext cx="6858000" cy="3429000"/>
              <a:chOff x="0" y="0"/>
              <a:chExt cx="6858000" cy="34290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6858000" cy="3429000"/>
              </a:xfrm>
              <a:custGeom>
                <a:avLst/>
                <a:gdLst/>
                <a:ahLst/>
                <a:cxnLst/>
                <a:rect l="l" t="t" r="r" b="b"/>
                <a:pathLst>
                  <a:path w="6858000" h="3429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3429000"/>
                    </a:lnTo>
                    <a:lnTo>
                      <a:pt x="0" y="3429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9E2EF"/>
                </a:solidFill>
                <a:prstDash val="solid"/>
                <a:miter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0" y="-38100"/>
                <a:ext cx="6858000" cy="3467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8" name="TextBox 48"/>
            <p:cNvSpPr txBox="1"/>
            <p:nvPr/>
          </p:nvSpPr>
          <p:spPr>
            <a:xfrm>
              <a:off x="355600" y="361950"/>
              <a:ext cx="6223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b="1" spc="108">
                  <a:solidFill>
                    <a:srgbClr val="1769E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FRONTEND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55600" y="1035050"/>
              <a:ext cx="6223000" cy="4330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2250" b="1">
                  <a:solidFill>
                    <a:srgbClr val="14213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Streamlit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55600" y="1870075"/>
              <a:ext cx="6223000" cy="3371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>
                  <a:solidFill>
                    <a:srgbClr val="14213D"/>
                  </a:solidFill>
                  <a:latin typeface="DM Sans"/>
                  <a:ea typeface="DM Sans"/>
                  <a:cs typeface="DM Sans"/>
                  <a:sym typeface="DM Sans"/>
                </a:rPr>
                <a:t>Administrator interface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1887200" y="5381625"/>
            <a:ext cx="5143500" cy="2571750"/>
            <a:chOff x="0" y="0"/>
            <a:chExt cx="6858000" cy="3429000"/>
          </a:xfrm>
        </p:grpSpPr>
        <p:grpSp>
          <p:nvGrpSpPr>
            <p:cNvPr id="52" name="Group 52"/>
            <p:cNvGrpSpPr/>
            <p:nvPr/>
          </p:nvGrpSpPr>
          <p:grpSpPr>
            <a:xfrm>
              <a:off x="0" y="0"/>
              <a:ext cx="6858000" cy="3429000"/>
              <a:chOff x="0" y="0"/>
              <a:chExt cx="6858000" cy="342900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6858000" cy="3429000"/>
              </a:xfrm>
              <a:custGeom>
                <a:avLst/>
                <a:gdLst/>
                <a:ahLst/>
                <a:cxnLst/>
                <a:rect l="l" t="t" r="r" b="b"/>
                <a:pathLst>
                  <a:path w="6858000" h="3429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3429000"/>
                    </a:lnTo>
                    <a:lnTo>
                      <a:pt x="0" y="3429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9E2EF"/>
                </a:solidFill>
                <a:prstDash val="solid"/>
                <a:miter/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0" y="-38100"/>
                <a:ext cx="6858000" cy="3467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55" name="TextBox 55"/>
            <p:cNvSpPr txBox="1"/>
            <p:nvPr/>
          </p:nvSpPr>
          <p:spPr>
            <a:xfrm>
              <a:off x="355600" y="361950"/>
              <a:ext cx="6223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b="1" spc="108">
                  <a:solidFill>
                    <a:srgbClr val="1769E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EXECUTION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55600" y="1035050"/>
              <a:ext cx="6223000" cy="4330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2250" b="1">
                  <a:solidFill>
                    <a:srgbClr val="14213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Google Colab + Tesla T4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55600" y="1870075"/>
              <a:ext cx="6223000" cy="3371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>
                  <a:solidFill>
                    <a:srgbClr val="14213D"/>
                  </a:solidFill>
                  <a:latin typeface="DM Sans"/>
                  <a:ea typeface="DM Sans"/>
                  <a:cs typeface="DM Sans"/>
                  <a:sym typeface="DM Sans"/>
                </a:rPr>
                <a:t>Development &amp; execution environment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38200" y="388144"/>
            <a:ext cx="16640175" cy="469106"/>
            <a:chOff x="0" y="9525"/>
            <a:chExt cx="22186900" cy="625475"/>
          </a:xfrm>
        </p:grpSpPr>
        <p:sp>
          <p:nvSpPr>
            <p:cNvPr id="3" name="TextBox 3"/>
            <p:cNvSpPr txBox="1"/>
            <p:nvPr/>
          </p:nvSpPr>
          <p:spPr>
            <a:xfrm>
              <a:off x="0" y="19050"/>
              <a:ext cx="18415000" cy="4330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2250" b="1">
                  <a:solidFill>
                    <a:srgbClr val="14213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Installation &amp; Environment Setup</a:t>
              </a:r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0" y="609600"/>
              <a:ext cx="22148800" cy="25400"/>
              <a:chOff x="0" y="0"/>
              <a:chExt cx="22148800" cy="254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221488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2148800" h="25400">
                    <a:moveTo>
                      <a:pt x="0" y="0"/>
                    </a:moveTo>
                    <a:lnTo>
                      <a:pt x="22148800" y="0"/>
                    </a:lnTo>
                    <a:lnTo>
                      <a:pt x="221488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D9E2EF"/>
              </a:solidFill>
              <a:ln w="9525" cap="sq">
                <a:solidFill>
                  <a:srgbClr val="D9E2EF"/>
                </a:solidFill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22148800" cy="63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21043900" y="9525"/>
              <a:ext cx="1143000" cy="3536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310"/>
                </a:lnSpc>
              </a:pPr>
              <a:r>
                <a:rPr lang="en-US" sz="1650" b="1" spc="132">
                  <a:solidFill>
                    <a:srgbClr val="1769E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06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38200" y="1095375"/>
            <a:ext cx="7810500" cy="2428875"/>
            <a:chOff x="0" y="0"/>
            <a:chExt cx="10414000" cy="3238500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10414000" cy="3238500"/>
              <a:chOff x="0" y="0"/>
              <a:chExt cx="10414000" cy="32385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0414000" cy="3238500"/>
              </a:xfrm>
              <a:custGeom>
                <a:avLst/>
                <a:gdLst/>
                <a:ahLst/>
                <a:cxnLst/>
                <a:rect l="l" t="t" r="r" b="b"/>
                <a:pathLst>
                  <a:path w="10414000" h="32385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3238500"/>
                    </a:lnTo>
                    <a:lnTo>
                      <a:pt x="0" y="3238500"/>
                    </a:lnTo>
                    <a:close/>
                  </a:path>
                </a:pathLst>
              </a:custGeom>
              <a:solidFill>
                <a:srgbClr val="EEF4FB"/>
              </a:solidFill>
              <a:ln w="9525" cap="sq">
                <a:solidFill>
                  <a:srgbClr val="1769E0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10414000" cy="3276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406400" y="171450"/>
              <a:ext cx="6350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b="1" spc="108">
                  <a:solidFill>
                    <a:srgbClr val="1769E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PACKAGE INSTALLATION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6400" y="733425"/>
              <a:ext cx="9144000" cy="11658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14213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pip install transformers accelerate</a:t>
              </a: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14213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pip install langgraph langchain langchain-community</a:t>
              </a: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14213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pip install streamlit pandas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620250" y="1143000"/>
            <a:ext cx="3238500" cy="809625"/>
            <a:chOff x="0" y="0"/>
            <a:chExt cx="4318000" cy="10795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318000" cy="1079500"/>
            </a:xfrm>
            <a:custGeom>
              <a:avLst/>
              <a:gdLst/>
              <a:ahLst/>
              <a:cxnLst/>
              <a:rect l="l" t="t" r="r" b="b"/>
              <a:pathLst>
                <a:path w="4318000" h="1079500">
                  <a:moveTo>
                    <a:pt x="52294" y="0"/>
                  </a:moveTo>
                  <a:lnTo>
                    <a:pt x="4265706" y="0"/>
                  </a:lnTo>
                  <a:cubicBezTo>
                    <a:pt x="4294587" y="0"/>
                    <a:pt x="4318000" y="23413"/>
                    <a:pt x="4318000" y="52294"/>
                  </a:cubicBezTo>
                  <a:lnTo>
                    <a:pt x="4318000" y="1027206"/>
                  </a:lnTo>
                  <a:cubicBezTo>
                    <a:pt x="4318000" y="1056087"/>
                    <a:pt x="4294587" y="1079500"/>
                    <a:pt x="4265706" y="1079500"/>
                  </a:cubicBezTo>
                  <a:lnTo>
                    <a:pt x="52294" y="1079500"/>
                  </a:lnTo>
                  <a:cubicBezTo>
                    <a:pt x="23413" y="1079500"/>
                    <a:pt x="0" y="1056087"/>
                    <a:pt x="0" y="1027206"/>
                  </a:cubicBezTo>
                  <a:lnTo>
                    <a:pt x="0" y="52294"/>
                  </a:lnTo>
                  <a:cubicBezTo>
                    <a:pt x="0" y="23413"/>
                    <a:pt x="23413" y="0"/>
                    <a:pt x="52294" y="0"/>
                  </a:cubicBezTo>
                  <a:close/>
                </a:path>
              </a:pathLst>
            </a:custGeom>
            <a:solidFill>
              <a:srgbClr val="EAF2FF"/>
            </a:solidFill>
            <a:ln cap="sq">
              <a:noFill/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9525"/>
              <a:ext cx="4318000" cy="1069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4213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GOOGLE COLAB</a:t>
              </a:r>
            </a:p>
          </p:txBody>
        </p:sp>
      </p:grpSp>
      <p:sp>
        <p:nvSpPr>
          <p:cNvPr id="18" name="AutoShape 18"/>
          <p:cNvSpPr/>
          <p:nvPr/>
        </p:nvSpPr>
        <p:spPr>
          <a:xfrm flipV="1">
            <a:off x="11239500" y="1095375"/>
            <a:ext cx="3905250" cy="904875"/>
          </a:xfrm>
          <a:prstGeom prst="line">
            <a:avLst/>
          </a:prstGeom>
          <a:ln w="28575" cap="rnd">
            <a:solidFill>
              <a:srgbClr val="1769E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9" name="Group 19"/>
          <p:cNvGrpSpPr/>
          <p:nvPr/>
        </p:nvGrpSpPr>
        <p:grpSpPr>
          <a:xfrm>
            <a:off x="13525500" y="1143000"/>
            <a:ext cx="3238500" cy="809625"/>
            <a:chOff x="0" y="0"/>
            <a:chExt cx="4318000" cy="10795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318000" cy="1079500"/>
            </a:xfrm>
            <a:custGeom>
              <a:avLst/>
              <a:gdLst/>
              <a:ahLst/>
              <a:cxnLst/>
              <a:rect l="l" t="t" r="r" b="b"/>
              <a:pathLst>
                <a:path w="4318000" h="1079500">
                  <a:moveTo>
                    <a:pt x="52294" y="0"/>
                  </a:moveTo>
                  <a:lnTo>
                    <a:pt x="4265706" y="0"/>
                  </a:lnTo>
                  <a:cubicBezTo>
                    <a:pt x="4294587" y="0"/>
                    <a:pt x="4318000" y="23413"/>
                    <a:pt x="4318000" y="52294"/>
                  </a:cubicBezTo>
                  <a:lnTo>
                    <a:pt x="4318000" y="1027206"/>
                  </a:lnTo>
                  <a:cubicBezTo>
                    <a:pt x="4318000" y="1056087"/>
                    <a:pt x="4294587" y="1079500"/>
                    <a:pt x="4265706" y="1079500"/>
                  </a:cubicBezTo>
                  <a:lnTo>
                    <a:pt x="52294" y="1079500"/>
                  </a:lnTo>
                  <a:cubicBezTo>
                    <a:pt x="23413" y="1079500"/>
                    <a:pt x="0" y="1056087"/>
                    <a:pt x="0" y="1027206"/>
                  </a:cubicBezTo>
                  <a:lnTo>
                    <a:pt x="0" y="52294"/>
                  </a:lnTo>
                  <a:cubicBezTo>
                    <a:pt x="0" y="23413"/>
                    <a:pt x="23413" y="0"/>
                    <a:pt x="52294" y="0"/>
                  </a:cubicBezTo>
                  <a:close/>
                </a:path>
              </a:pathLst>
            </a:custGeom>
            <a:solidFill>
              <a:srgbClr val="EAF2FF"/>
            </a:solidFill>
            <a:ln cap="sq">
              <a:noFill/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9525"/>
              <a:ext cx="4318000" cy="1069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4213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TESLA T4 GPU</a:t>
              </a:r>
            </a:p>
          </p:txBody>
        </p:sp>
      </p:grpSp>
      <p:sp>
        <p:nvSpPr>
          <p:cNvPr id="22" name="AutoShape 22"/>
          <p:cNvSpPr/>
          <p:nvPr/>
        </p:nvSpPr>
        <p:spPr>
          <a:xfrm flipH="1">
            <a:off x="11239500" y="2000250"/>
            <a:ext cx="3905250" cy="1047750"/>
          </a:xfrm>
          <a:prstGeom prst="line">
            <a:avLst/>
          </a:prstGeom>
          <a:ln w="28575" cap="rnd">
            <a:solidFill>
              <a:srgbClr val="1769E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3" name="Group 23"/>
          <p:cNvGrpSpPr/>
          <p:nvPr/>
        </p:nvGrpSpPr>
        <p:grpSpPr>
          <a:xfrm>
            <a:off x="9620250" y="3095625"/>
            <a:ext cx="3238500" cy="809625"/>
            <a:chOff x="0" y="0"/>
            <a:chExt cx="4318000" cy="10795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318000" cy="1079500"/>
            </a:xfrm>
            <a:custGeom>
              <a:avLst/>
              <a:gdLst/>
              <a:ahLst/>
              <a:cxnLst/>
              <a:rect l="l" t="t" r="r" b="b"/>
              <a:pathLst>
                <a:path w="4318000" h="1079500">
                  <a:moveTo>
                    <a:pt x="52294" y="0"/>
                  </a:moveTo>
                  <a:lnTo>
                    <a:pt x="4265706" y="0"/>
                  </a:lnTo>
                  <a:cubicBezTo>
                    <a:pt x="4294587" y="0"/>
                    <a:pt x="4318000" y="23413"/>
                    <a:pt x="4318000" y="52294"/>
                  </a:cubicBezTo>
                  <a:lnTo>
                    <a:pt x="4318000" y="1027206"/>
                  </a:lnTo>
                  <a:cubicBezTo>
                    <a:pt x="4318000" y="1056087"/>
                    <a:pt x="4294587" y="1079500"/>
                    <a:pt x="4265706" y="1079500"/>
                  </a:cubicBezTo>
                  <a:lnTo>
                    <a:pt x="52294" y="1079500"/>
                  </a:lnTo>
                  <a:cubicBezTo>
                    <a:pt x="23413" y="1079500"/>
                    <a:pt x="0" y="1056087"/>
                    <a:pt x="0" y="1027206"/>
                  </a:cubicBezTo>
                  <a:lnTo>
                    <a:pt x="0" y="52294"/>
                  </a:lnTo>
                  <a:cubicBezTo>
                    <a:pt x="0" y="23413"/>
                    <a:pt x="23413" y="0"/>
                    <a:pt x="52294" y="0"/>
                  </a:cubicBezTo>
                  <a:close/>
                </a:path>
              </a:pathLst>
            </a:custGeom>
            <a:solidFill>
              <a:srgbClr val="EAF2FF"/>
            </a:solidFill>
            <a:ln cap="sq">
              <a:noFill/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9525"/>
              <a:ext cx="4318000" cy="1069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4213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PYTHON ENVIRONMENT</a:t>
              </a:r>
            </a:p>
          </p:txBody>
        </p:sp>
      </p:grpSp>
      <p:sp>
        <p:nvSpPr>
          <p:cNvPr id="26" name="AutoShape 26"/>
          <p:cNvSpPr/>
          <p:nvPr/>
        </p:nvSpPr>
        <p:spPr>
          <a:xfrm flipV="1">
            <a:off x="11239500" y="3048000"/>
            <a:ext cx="3905250" cy="904875"/>
          </a:xfrm>
          <a:prstGeom prst="line">
            <a:avLst/>
          </a:prstGeom>
          <a:ln w="28575" cap="rnd">
            <a:solidFill>
              <a:srgbClr val="F59E0B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7" name="Group 27"/>
          <p:cNvGrpSpPr/>
          <p:nvPr/>
        </p:nvGrpSpPr>
        <p:grpSpPr>
          <a:xfrm>
            <a:off x="13525500" y="3095625"/>
            <a:ext cx="3238500" cy="809625"/>
            <a:chOff x="0" y="0"/>
            <a:chExt cx="4318000" cy="10795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318000" cy="1079500"/>
            </a:xfrm>
            <a:custGeom>
              <a:avLst/>
              <a:gdLst/>
              <a:ahLst/>
              <a:cxnLst/>
              <a:rect l="l" t="t" r="r" b="b"/>
              <a:pathLst>
                <a:path w="4318000" h="1079500">
                  <a:moveTo>
                    <a:pt x="52294" y="0"/>
                  </a:moveTo>
                  <a:lnTo>
                    <a:pt x="4265706" y="0"/>
                  </a:lnTo>
                  <a:cubicBezTo>
                    <a:pt x="4294587" y="0"/>
                    <a:pt x="4318000" y="23413"/>
                    <a:pt x="4318000" y="52294"/>
                  </a:cubicBezTo>
                  <a:lnTo>
                    <a:pt x="4318000" y="1027206"/>
                  </a:lnTo>
                  <a:cubicBezTo>
                    <a:pt x="4318000" y="1056087"/>
                    <a:pt x="4294587" y="1079500"/>
                    <a:pt x="4265706" y="1079500"/>
                  </a:cubicBezTo>
                  <a:lnTo>
                    <a:pt x="52294" y="1079500"/>
                  </a:lnTo>
                  <a:cubicBezTo>
                    <a:pt x="23413" y="1079500"/>
                    <a:pt x="0" y="1056087"/>
                    <a:pt x="0" y="1027206"/>
                  </a:cubicBezTo>
                  <a:lnTo>
                    <a:pt x="0" y="52294"/>
                  </a:lnTo>
                  <a:cubicBezTo>
                    <a:pt x="0" y="23413"/>
                    <a:pt x="23413" y="0"/>
                    <a:pt x="52294" y="0"/>
                  </a:cubicBezTo>
                  <a:close/>
                </a:path>
              </a:pathLst>
            </a:custGeom>
            <a:solidFill>
              <a:srgbClr val="EAF2FF"/>
            </a:solidFill>
            <a:ln cap="sq">
              <a:noFill/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9525"/>
              <a:ext cx="4318000" cy="1069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4213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PACKAGE INSTALLATION</a:t>
              </a:r>
            </a:p>
          </p:txBody>
        </p:sp>
      </p:grpSp>
      <p:sp>
        <p:nvSpPr>
          <p:cNvPr id="30" name="AutoShape 30"/>
          <p:cNvSpPr/>
          <p:nvPr/>
        </p:nvSpPr>
        <p:spPr>
          <a:xfrm flipH="1">
            <a:off x="11239500" y="3952875"/>
            <a:ext cx="3905250" cy="1047750"/>
          </a:xfrm>
          <a:prstGeom prst="line">
            <a:avLst/>
          </a:prstGeom>
          <a:ln w="28575" cap="rnd">
            <a:solidFill>
              <a:srgbClr val="1769E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31" name="Group 31"/>
          <p:cNvGrpSpPr/>
          <p:nvPr/>
        </p:nvGrpSpPr>
        <p:grpSpPr>
          <a:xfrm>
            <a:off x="9620250" y="5048250"/>
            <a:ext cx="3238500" cy="809625"/>
            <a:chOff x="0" y="0"/>
            <a:chExt cx="4318000" cy="10795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318000" cy="1079500"/>
            </a:xfrm>
            <a:custGeom>
              <a:avLst/>
              <a:gdLst/>
              <a:ahLst/>
              <a:cxnLst/>
              <a:rect l="l" t="t" r="r" b="b"/>
              <a:pathLst>
                <a:path w="4318000" h="1079500">
                  <a:moveTo>
                    <a:pt x="52294" y="0"/>
                  </a:moveTo>
                  <a:lnTo>
                    <a:pt x="4265706" y="0"/>
                  </a:lnTo>
                  <a:cubicBezTo>
                    <a:pt x="4294587" y="0"/>
                    <a:pt x="4318000" y="23413"/>
                    <a:pt x="4318000" y="52294"/>
                  </a:cubicBezTo>
                  <a:lnTo>
                    <a:pt x="4318000" y="1027206"/>
                  </a:lnTo>
                  <a:cubicBezTo>
                    <a:pt x="4318000" y="1056087"/>
                    <a:pt x="4294587" y="1079500"/>
                    <a:pt x="4265706" y="1079500"/>
                  </a:cubicBezTo>
                  <a:lnTo>
                    <a:pt x="52294" y="1079500"/>
                  </a:lnTo>
                  <a:cubicBezTo>
                    <a:pt x="23413" y="1079500"/>
                    <a:pt x="0" y="1056087"/>
                    <a:pt x="0" y="1027206"/>
                  </a:cubicBezTo>
                  <a:lnTo>
                    <a:pt x="0" y="52294"/>
                  </a:lnTo>
                  <a:cubicBezTo>
                    <a:pt x="0" y="23413"/>
                    <a:pt x="23413" y="0"/>
                    <a:pt x="52294" y="0"/>
                  </a:cubicBezTo>
                  <a:close/>
                </a:path>
              </a:pathLst>
            </a:custGeom>
            <a:solidFill>
              <a:srgbClr val="EAF2FF"/>
            </a:solidFill>
            <a:ln cap="sq">
              <a:noFill/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0" y="9525"/>
              <a:ext cx="4318000" cy="1069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4213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PYTORCH / CUDA CHECK</a:t>
              </a:r>
            </a:p>
          </p:txBody>
        </p:sp>
      </p:grpSp>
      <p:sp>
        <p:nvSpPr>
          <p:cNvPr id="34" name="AutoShape 34"/>
          <p:cNvSpPr/>
          <p:nvPr/>
        </p:nvSpPr>
        <p:spPr>
          <a:xfrm flipV="1">
            <a:off x="11239500" y="5000625"/>
            <a:ext cx="3905250" cy="904875"/>
          </a:xfrm>
          <a:prstGeom prst="line">
            <a:avLst/>
          </a:prstGeom>
          <a:ln w="28575" cap="rnd">
            <a:solidFill>
              <a:srgbClr val="1769E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35" name="Group 35"/>
          <p:cNvGrpSpPr/>
          <p:nvPr/>
        </p:nvGrpSpPr>
        <p:grpSpPr>
          <a:xfrm>
            <a:off x="13525500" y="5048250"/>
            <a:ext cx="3238500" cy="809625"/>
            <a:chOff x="0" y="0"/>
            <a:chExt cx="4318000" cy="10795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318000" cy="1079500"/>
            </a:xfrm>
            <a:custGeom>
              <a:avLst/>
              <a:gdLst/>
              <a:ahLst/>
              <a:cxnLst/>
              <a:rect l="l" t="t" r="r" b="b"/>
              <a:pathLst>
                <a:path w="4318000" h="1079500">
                  <a:moveTo>
                    <a:pt x="52294" y="0"/>
                  </a:moveTo>
                  <a:lnTo>
                    <a:pt x="4265706" y="0"/>
                  </a:lnTo>
                  <a:cubicBezTo>
                    <a:pt x="4294587" y="0"/>
                    <a:pt x="4318000" y="23413"/>
                    <a:pt x="4318000" y="52294"/>
                  </a:cubicBezTo>
                  <a:lnTo>
                    <a:pt x="4318000" y="1027206"/>
                  </a:lnTo>
                  <a:cubicBezTo>
                    <a:pt x="4318000" y="1056087"/>
                    <a:pt x="4294587" y="1079500"/>
                    <a:pt x="4265706" y="1079500"/>
                  </a:cubicBezTo>
                  <a:lnTo>
                    <a:pt x="52294" y="1079500"/>
                  </a:lnTo>
                  <a:cubicBezTo>
                    <a:pt x="23413" y="1079500"/>
                    <a:pt x="0" y="1056087"/>
                    <a:pt x="0" y="1027206"/>
                  </a:cubicBezTo>
                  <a:lnTo>
                    <a:pt x="0" y="52294"/>
                  </a:lnTo>
                  <a:cubicBezTo>
                    <a:pt x="0" y="23413"/>
                    <a:pt x="23413" y="0"/>
                    <a:pt x="52294" y="0"/>
                  </a:cubicBezTo>
                  <a:close/>
                </a:path>
              </a:pathLst>
            </a:custGeom>
            <a:solidFill>
              <a:srgbClr val="EAF2FF"/>
            </a:solidFill>
            <a:ln cap="sq">
              <a:noFill/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0" y="9525"/>
              <a:ext cx="4318000" cy="1069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4213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MODEL SETUP</a:t>
              </a:r>
            </a:p>
          </p:txBody>
        </p:sp>
      </p:grpSp>
      <p:sp>
        <p:nvSpPr>
          <p:cNvPr id="38" name="AutoShape 38"/>
          <p:cNvSpPr/>
          <p:nvPr/>
        </p:nvSpPr>
        <p:spPr>
          <a:xfrm flipH="1">
            <a:off x="11239500" y="5905500"/>
            <a:ext cx="3905250" cy="1047750"/>
          </a:xfrm>
          <a:prstGeom prst="line">
            <a:avLst/>
          </a:prstGeom>
          <a:ln w="28575" cap="rnd">
            <a:solidFill>
              <a:srgbClr val="1769E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39" name="Group 39"/>
          <p:cNvGrpSpPr/>
          <p:nvPr/>
        </p:nvGrpSpPr>
        <p:grpSpPr>
          <a:xfrm>
            <a:off x="9620250" y="7000875"/>
            <a:ext cx="3238500" cy="809625"/>
            <a:chOff x="0" y="0"/>
            <a:chExt cx="4318000" cy="10795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4318000" cy="1079500"/>
            </a:xfrm>
            <a:custGeom>
              <a:avLst/>
              <a:gdLst/>
              <a:ahLst/>
              <a:cxnLst/>
              <a:rect l="l" t="t" r="r" b="b"/>
              <a:pathLst>
                <a:path w="4318000" h="1079500">
                  <a:moveTo>
                    <a:pt x="52294" y="0"/>
                  </a:moveTo>
                  <a:lnTo>
                    <a:pt x="4265706" y="0"/>
                  </a:lnTo>
                  <a:cubicBezTo>
                    <a:pt x="4294587" y="0"/>
                    <a:pt x="4318000" y="23413"/>
                    <a:pt x="4318000" y="52294"/>
                  </a:cubicBezTo>
                  <a:lnTo>
                    <a:pt x="4318000" y="1027206"/>
                  </a:lnTo>
                  <a:cubicBezTo>
                    <a:pt x="4318000" y="1056087"/>
                    <a:pt x="4294587" y="1079500"/>
                    <a:pt x="4265706" y="1079500"/>
                  </a:cubicBezTo>
                  <a:lnTo>
                    <a:pt x="52294" y="1079500"/>
                  </a:lnTo>
                  <a:cubicBezTo>
                    <a:pt x="23413" y="1079500"/>
                    <a:pt x="0" y="1056087"/>
                    <a:pt x="0" y="1027206"/>
                  </a:cubicBezTo>
                  <a:lnTo>
                    <a:pt x="0" y="52294"/>
                  </a:lnTo>
                  <a:cubicBezTo>
                    <a:pt x="0" y="23413"/>
                    <a:pt x="23413" y="0"/>
                    <a:pt x="52294" y="0"/>
                  </a:cubicBezTo>
                  <a:close/>
                </a:path>
              </a:pathLst>
            </a:custGeom>
            <a:solidFill>
              <a:srgbClr val="EAF2FF"/>
            </a:solidFill>
            <a:ln cap="sq">
              <a:noFill/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0" y="9525"/>
              <a:ext cx="4318000" cy="1069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4213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DATABASE SETUP</a:t>
              </a:r>
            </a:p>
          </p:txBody>
        </p:sp>
      </p:grpSp>
      <p:sp>
        <p:nvSpPr>
          <p:cNvPr id="42" name="AutoShape 42"/>
          <p:cNvSpPr/>
          <p:nvPr/>
        </p:nvSpPr>
        <p:spPr>
          <a:xfrm flipV="1">
            <a:off x="11239500" y="6953250"/>
            <a:ext cx="3905250" cy="904875"/>
          </a:xfrm>
          <a:prstGeom prst="line">
            <a:avLst/>
          </a:prstGeom>
          <a:ln w="28575" cap="rnd">
            <a:solidFill>
              <a:srgbClr val="1769E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43" name="Group 43"/>
          <p:cNvGrpSpPr/>
          <p:nvPr/>
        </p:nvGrpSpPr>
        <p:grpSpPr>
          <a:xfrm>
            <a:off x="13525500" y="7000875"/>
            <a:ext cx="3238500" cy="809625"/>
            <a:chOff x="0" y="0"/>
            <a:chExt cx="4318000" cy="10795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4318000" cy="1079500"/>
            </a:xfrm>
            <a:custGeom>
              <a:avLst/>
              <a:gdLst/>
              <a:ahLst/>
              <a:cxnLst/>
              <a:rect l="l" t="t" r="r" b="b"/>
              <a:pathLst>
                <a:path w="4318000" h="1079500">
                  <a:moveTo>
                    <a:pt x="52294" y="0"/>
                  </a:moveTo>
                  <a:lnTo>
                    <a:pt x="4265706" y="0"/>
                  </a:lnTo>
                  <a:cubicBezTo>
                    <a:pt x="4294587" y="0"/>
                    <a:pt x="4318000" y="23413"/>
                    <a:pt x="4318000" y="52294"/>
                  </a:cubicBezTo>
                  <a:lnTo>
                    <a:pt x="4318000" y="1027206"/>
                  </a:lnTo>
                  <a:cubicBezTo>
                    <a:pt x="4318000" y="1056087"/>
                    <a:pt x="4294587" y="1079500"/>
                    <a:pt x="4265706" y="1079500"/>
                  </a:cubicBezTo>
                  <a:lnTo>
                    <a:pt x="52294" y="1079500"/>
                  </a:lnTo>
                  <a:cubicBezTo>
                    <a:pt x="23413" y="1079500"/>
                    <a:pt x="0" y="1056087"/>
                    <a:pt x="0" y="1027206"/>
                  </a:cubicBezTo>
                  <a:lnTo>
                    <a:pt x="0" y="52294"/>
                  </a:lnTo>
                  <a:cubicBezTo>
                    <a:pt x="0" y="23413"/>
                    <a:pt x="23413" y="0"/>
                    <a:pt x="52294" y="0"/>
                  </a:cubicBezTo>
                  <a:close/>
                </a:path>
              </a:pathLst>
            </a:custGeom>
            <a:solidFill>
              <a:srgbClr val="1769E0"/>
            </a:solidFill>
            <a:ln cap="sq">
              <a:noFill/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0" y="9525"/>
              <a:ext cx="4318000" cy="1069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APPLICATION</a:t>
              </a: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1143000" y="4972050"/>
            <a:ext cx="6858000" cy="624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250" b="1" dirty="0">
                <a:solidFill>
                  <a:srgbClr val="1421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Environment principle: verify compute first, then model, data, and application layers.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38200" y="388144"/>
            <a:ext cx="16640175" cy="469106"/>
            <a:chOff x="0" y="9525"/>
            <a:chExt cx="22186900" cy="625475"/>
          </a:xfrm>
        </p:grpSpPr>
        <p:sp>
          <p:nvSpPr>
            <p:cNvPr id="3" name="TextBox 3"/>
            <p:cNvSpPr txBox="1"/>
            <p:nvPr/>
          </p:nvSpPr>
          <p:spPr>
            <a:xfrm>
              <a:off x="0" y="19050"/>
              <a:ext cx="18415000" cy="4330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2250" b="1">
                  <a:solidFill>
                    <a:srgbClr val="14213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Railway Database Design</a:t>
              </a:r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0" y="609600"/>
              <a:ext cx="22148800" cy="25400"/>
              <a:chOff x="0" y="0"/>
              <a:chExt cx="22148800" cy="254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221488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2148800" h="25400">
                    <a:moveTo>
                      <a:pt x="0" y="0"/>
                    </a:moveTo>
                    <a:lnTo>
                      <a:pt x="22148800" y="0"/>
                    </a:lnTo>
                    <a:lnTo>
                      <a:pt x="221488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D9E2EF"/>
              </a:solidFill>
              <a:ln w="9525" cap="sq">
                <a:solidFill>
                  <a:srgbClr val="D9E2EF"/>
                </a:solidFill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22148800" cy="63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21043900" y="9525"/>
              <a:ext cx="1143000" cy="3536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310"/>
                </a:lnSpc>
              </a:pPr>
              <a:r>
                <a:rPr lang="en-US" sz="1650" b="1" spc="132">
                  <a:solidFill>
                    <a:srgbClr val="1769E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07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838200" y="1152525"/>
            <a:ext cx="8572500" cy="35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14213D"/>
                </a:solidFill>
                <a:latin typeface="IBM Plex Mono"/>
                <a:ea typeface="IBM Plex Mono"/>
                <a:cs typeface="IBM Plex Mono"/>
                <a:sym typeface="IBM Plex Mono"/>
              </a:rPr>
              <a:t>railway_database.db  /  tickets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38200" y="1685925"/>
            <a:ext cx="15716250" cy="255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45"/>
              </a:lnSpc>
            </a:pPr>
            <a:r>
              <a:rPr lang="en-US" sz="1650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Ticket_ID · Transaction_ID · Passenger_Name · Train · Source · Destination · Journey_Date · Class · Seat · Status · Fare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66750" y="2619375"/>
            <a:ext cx="10001250" cy="5143500"/>
            <a:chOff x="0" y="0"/>
            <a:chExt cx="13335000" cy="6858000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13335000" cy="6858000"/>
              <a:chOff x="0" y="0"/>
              <a:chExt cx="13335000" cy="68580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3335000" cy="6858000"/>
              </a:xfrm>
              <a:custGeom>
                <a:avLst/>
                <a:gdLst/>
                <a:ahLst/>
                <a:cxnLst/>
                <a:rect l="l" t="t" r="r" b="b"/>
                <a:pathLst>
                  <a:path w="13335000" h="6858000">
                    <a:moveTo>
                      <a:pt x="0" y="0"/>
                    </a:moveTo>
                    <a:lnTo>
                      <a:pt x="13335000" y="0"/>
                    </a:lnTo>
                    <a:lnTo>
                      <a:pt x="13335000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9E2EF"/>
                </a:solidFill>
                <a:prstDash val="solid"/>
                <a:miter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13335000" cy="6896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228600" y="171450"/>
              <a:ext cx="6350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b="1" spc="108">
                  <a:solidFill>
                    <a:srgbClr val="1769E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SAMPLE RECORDS (10)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28600" y="742950"/>
              <a:ext cx="12573000" cy="34099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500">
                  <a:solidFill>
                    <a:srgbClr val="14213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TKT1001  TXN5001  Aarav Mehta   Rajdhani Express   Confirmed</a:t>
              </a:r>
            </a:p>
            <a:p>
              <a:pPr algn="l">
                <a:lnSpc>
                  <a:spcPts val="2025"/>
                </a:lnSpc>
              </a:pPr>
              <a:r>
                <a:rPr lang="en-US" sz="1500">
                  <a:solidFill>
                    <a:srgbClr val="14213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TKT1002  TXN5002  Priya Sharma  Duronto Express     WL</a:t>
              </a:r>
            </a:p>
            <a:p>
              <a:pPr algn="l">
                <a:lnSpc>
                  <a:spcPts val="2025"/>
                </a:lnSpc>
              </a:pPr>
              <a:r>
                <a:rPr lang="en-US" sz="1500">
                  <a:solidFill>
                    <a:srgbClr val="14213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TKT1003  TXN5003  Rohan Das     Intercity Express   Confirmed</a:t>
              </a:r>
            </a:p>
            <a:p>
              <a:pPr algn="l">
                <a:lnSpc>
                  <a:spcPts val="2025"/>
                </a:lnSpc>
              </a:pPr>
              <a:r>
                <a:rPr lang="en-US" sz="1500">
                  <a:solidFill>
                    <a:srgbClr val="14213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TKT1004  TXN5004  Neha Singh    Shatabdi Express    Confirmed</a:t>
              </a:r>
            </a:p>
            <a:p>
              <a:pPr algn="l">
                <a:lnSpc>
                  <a:spcPts val="2025"/>
                </a:lnSpc>
              </a:pPr>
              <a:r>
                <a:rPr lang="en-US" sz="1500">
                  <a:solidFill>
                    <a:srgbClr val="14213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TKT1005  TXN5005  Imran Khan    Garib Rath          Cancelled</a:t>
              </a:r>
            </a:p>
            <a:p>
              <a:pPr algn="l">
                <a:lnSpc>
                  <a:spcPts val="2025"/>
                </a:lnSpc>
              </a:pPr>
              <a:r>
                <a:rPr lang="en-US" sz="1500">
                  <a:solidFill>
                    <a:srgbClr val="14213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TKT1006  TXN5006  Kavya Iyer    Vande Bharat        Confirmed</a:t>
              </a:r>
            </a:p>
            <a:p>
              <a:pPr algn="l">
                <a:lnSpc>
                  <a:spcPts val="2025"/>
                </a:lnSpc>
              </a:pPr>
              <a:r>
                <a:rPr lang="en-US" sz="1500">
                  <a:solidFill>
                    <a:srgbClr val="14213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TKT1007  TXN5007  Aditya Rao    Humsafar Express    WL</a:t>
              </a:r>
            </a:p>
            <a:p>
              <a:pPr algn="l">
                <a:lnSpc>
                  <a:spcPts val="2025"/>
                </a:lnSpc>
              </a:pPr>
              <a:r>
                <a:rPr lang="en-US" sz="1500">
                  <a:solidFill>
                    <a:srgbClr val="14213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TKT1008  TXN5008  Meera Nair    Jan Shatabdi       Confirmed</a:t>
              </a:r>
            </a:p>
            <a:p>
              <a:pPr algn="l">
                <a:lnSpc>
                  <a:spcPts val="2025"/>
                </a:lnSpc>
              </a:pPr>
              <a:r>
                <a:rPr lang="en-US" sz="1500">
                  <a:solidFill>
                    <a:srgbClr val="14213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TKT1009  TXN5009  Arjun Patel   Tejas Express       Confirmed</a:t>
              </a:r>
            </a:p>
            <a:p>
              <a:pPr algn="l">
                <a:lnSpc>
                  <a:spcPts val="2025"/>
                </a:lnSpc>
              </a:pPr>
              <a:r>
                <a:rPr lang="en-US" sz="1500">
                  <a:solidFill>
                    <a:srgbClr val="14213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TKT1010  TXN5010  Sana Ali      Sampark Kranti      Cancelled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953750" y="3143250"/>
            <a:ext cx="6191250" cy="2190750"/>
            <a:chOff x="0" y="0"/>
            <a:chExt cx="8255000" cy="2921000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0"/>
              <a:ext cx="8255000" cy="2921000"/>
              <a:chOff x="0" y="0"/>
              <a:chExt cx="8255000" cy="29210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255000" cy="2921000"/>
              </a:xfrm>
              <a:custGeom>
                <a:avLst/>
                <a:gdLst/>
                <a:ahLst/>
                <a:cxnLst/>
                <a:rect l="l" t="t" r="r" b="b"/>
                <a:pathLst>
                  <a:path w="8255000" h="2921000">
                    <a:moveTo>
                      <a:pt x="0" y="0"/>
                    </a:moveTo>
                    <a:lnTo>
                      <a:pt x="8255000" y="0"/>
                    </a:lnTo>
                    <a:lnTo>
                      <a:pt x="8255000" y="2921000"/>
                    </a:lnTo>
                    <a:lnTo>
                      <a:pt x="0" y="2921000"/>
                    </a:lnTo>
                    <a:close/>
                  </a:path>
                </a:pathLst>
              </a:custGeom>
              <a:solidFill>
                <a:srgbClr val="E8F7F1"/>
              </a:solidFill>
              <a:ln w="9525" cap="sq">
                <a:solidFill>
                  <a:srgbClr val="1F9D70"/>
                </a:solidFill>
                <a:prstDash val="solid"/>
                <a:miter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8255000" cy="2959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508000" y="536575"/>
              <a:ext cx="7112000" cy="11967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49"/>
                </a:lnSpc>
              </a:pPr>
              <a:r>
                <a:rPr lang="en-US" sz="2175" b="1">
                  <a:solidFill>
                    <a:srgbClr val="14213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TXN5004 → TKT1004</a:t>
              </a:r>
            </a:p>
            <a:p>
              <a:pPr algn="l">
                <a:lnSpc>
                  <a:spcPts val="2349"/>
                </a:lnSpc>
              </a:pPr>
              <a:r>
                <a:rPr lang="en-US" sz="2175" b="1">
                  <a:solidFill>
                    <a:srgbClr val="14213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Neha Singh · Shatabdi Express</a:t>
              </a:r>
            </a:p>
            <a:p>
              <a:pPr algn="l">
                <a:lnSpc>
                  <a:spcPts val="2349"/>
                </a:lnSpc>
              </a:pPr>
              <a:r>
                <a:rPr lang="en-US" sz="2175" b="1">
                  <a:solidFill>
                    <a:srgbClr val="14213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Delhi → Chandigarh · Confirmed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57250" y="6477000"/>
            <a:ext cx="2571750" cy="762000"/>
            <a:chOff x="0" y="0"/>
            <a:chExt cx="3429000" cy="10160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429000" cy="1016000"/>
            </a:xfrm>
            <a:custGeom>
              <a:avLst/>
              <a:gdLst/>
              <a:ahLst/>
              <a:cxnLst/>
              <a:rect l="l" t="t" r="r" b="b"/>
              <a:pathLst>
                <a:path w="3429000" h="1016000">
                  <a:moveTo>
                    <a:pt x="65852" y="0"/>
                  </a:moveTo>
                  <a:lnTo>
                    <a:pt x="3363148" y="0"/>
                  </a:lnTo>
                  <a:cubicBezTo>
                    <a:pt x="3399517" y="0"/>
                    <a:pt x="3429000" y="29483"/>
                    <a:pt x="3429000" y="65852"/>
                  </a:cubicBezTo>
                  <a:lnTo>
                    <a:pt x="3429000" y="950148"/>
                  </a:lnTo>
                  <a:cubicBezTo>
                    <a:pt x="3429000" y="986517"/>
                    <a:pt x="3399517" y="1016000"/>
                    <a:pt x="3363148" y="1016000"/>
                  </a:cubicBezTo>
                  <a:lnTo>
                    <a:pt x="65852" y="1016000"/>
                  </a:lnTo>
                  <a:cubicBezTo>
                    <a:pt x="29483" y="1016000"/>
                    <a:pt x="0" y="986517"/>
                    <a:pt x="0" y="950148"/>
                  </a:cubicBezTo>
                  <a:lnTo>
                    <a:pt x="0" y="65852"/>
                  </a:lnTo>
                  <a:cubicBezTo>
                    <a:pt x="0" y="29483"/>
                    <a:pt x="29483" y="0"/>
                    <a:pt x="65852" y="0"/>
                  </a:cubicBezTo>
                  <a:close/>
                </a:path>
              </a:pathLst>
            </a:custGeom>
            <a:solidFill>
              <a:srgbClr val="EAF2FF"/>
            </a:solidFill>
            <a:ln cap="sq">
              <a:noFill/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9525"/>
              <a:ext cx="3429000" cy="1006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4213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NATURAL LANGUAGE</a:t>
              </a:r>
            </a:p>
          </p:txBody>
        </p:sp>
      </p:grpSp>
      <p:sp>
        <p:nvSpPr>
          <p:cNvPr id="25" name="AutoShape 25"/>
          <p:cNvSpPr/>
          <p:nvPr/>
        </p:nvSpPr>
        <p:spPr>
          <a:xfrm>
            <a:off x="3476625" y="6858000"/>
            <a:ext cx="666750" cy="0"/>
          </a:xfrm>
          <a:prstGeom prst="line">
            <a:avLst/>
          </a:prstGeom>
          <a:ln w="28575" cap="rnd">
            <a:solidFill>
              <a:srgbClr val="1769E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6" name="Group 26"/>
          <p:cNvGrpSpPr/>
          <p:nvPr/>
        </p:nvGrpSpPr>
        <p:grpSpPr>
          <a:xfrm>
            <a:off x="4191000" y="6477000"/>
            <a:ext cx="2571750" cy="762000"/>
            <a:chOff x="0" y="0"/>
            <a:chExt cx="3429000" cy="10160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429000" cy="1016000"/>
            </a:xfrm>
            <a:custGeom>
              <a:avLst/>
              <a:gdLst/>
              <a:ahLst/>
              <a:cxnLst/>
              <a:rect l="l" t="t" r="r" b="b"/>
              <a:pathLst>
                <a:path w="3429000" h="1016000">
                  <a:moveTo>
                    <a:pt x="65852" y="0"/>
                  </a:moveTo>
                  <a:lnTo>
                    <a:pt x="3363148" y="0"/>
                  </a:lnTo>
                  <a:cubicBezTo>
                    <a:pt x="3399517" y="0"/>
                    <a:pt x="3429000" y="29483"/>
                    <a:pt x="3429000" y="65852"/>
                  </a:cubicBezTo>
                  <a:lnTo>
                    <a:pt x="3429000" y="950148"/>
                  </a:lnTo>
                  <a:cubicBezTo>
                    <a:pt x="3429000" y="986517"/>
                    <a:pt x="3399517" y="1016000"/>
                    <a:pt x="3363148" y="1016000"/>
                  </a:cubicBezTo>
                  <a:lnTo>
                    <a:pt x="65852" y="1016000"/>
                  </a:lnTo>
                  <a:cubicBezTo>
                    <a:pt x="29483" y="1016000"/>
                    <a:pt x="0" y="986517"/>
                    <a:pt x="0" y="950148"/>
                  </a:cubicBezTo>
                  <a:lnTo>
                    <a:pt x="0" y="65852"/>
                  </a:lnTo>
                  <a:cubicBezTo>
                    <a:pt x="0" y="29483"/>
                    <a:pt x="29483" y="0"/>
                    <a:pt x="65852" y="0"/>
                  </a:cubicBezTo>
                  <a:close/>
                </a:path>
              </a:pathLst>
            </a:custGeom>
            <a:solidFill>
              <a:srgbClr val="EAF2FF"/>
            </a:solidFill>
            <a:ln cap="sq">
              <a:noFill/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9525"/>
              <a:ext cx="3429000" cy="1006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4213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AGENT</a:t>
              </a:r>
            </a:p>
          </p:txBody>
        </p:sp>
      </p:grpSp>
      <p:sp>
        <p:nvSpPr>
          <p:cNvPr id="29" name="AutoShape 29"/>
          <p:cNvSpPr/>
          <p:nvPr/>
        </p:nvSpPr>
        <p:spPr>
          <a:xfrm>
            <a:off x="6810375" y="6858000"/>
            <a:ext cx="666750" cy="0"/>
          </a:xfrm>
          <a:prstGeom prst="line">
            <a:avLst/>
          </a:prstGeom>
          <a:ln w="28575" cap="rnd">
            <a:solidFill>
              <a:srgbClr val="1769E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30" name="Group 30"/>
          <p:cNvGrpSpPr/>
          <p:nvPr/>
        </p:nvGrpSpPr>
        <p:grpSpPr>
          <a:xfrm>
            <a:off x="7524750" y="6477000"/>
            <a:ext cx="2571750" cy="762000"/>
            <a:chOff x="0" y="0"/>
            <a:chExt cx="3429000" cy="10160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429000" cy="1016000"/>
            </a:xfrm>
            <a:custGeom>
              <a:avLst/>
              <a:gdLst/>
              <a:ahLst/>
              <a:cxnLst/>
              <a:rect l="l" t="t" r="r" b="b"/>
              <a:pathLst>
                <a:path w="3429000" h="1016000">
                  <a:moveTo>
                    <a:pt x="65852" y="0"/>
                  </a:moveTo>
                  <a:lnTo>
                    <a:pt x="3363148" y="0"/>
                  </a:lnTo>
                  <a:cubicBezTo>
                    <a:pt x="3399517" y="0"/>
                    <a:pt x="3429000" y="29483"/>
                    <a:pt x="3429000" y="65852"/>
                  </a:cubicBezTo>
                  <a:lnTo>
                    <a:pt x="3429000" y="950148"/>
                  </a:lnTo>
                  <a:cubicBezTo>
                    <a:pt x="3429000" y="986517"/>
                    <a:pt x="3399517" y="1016000"/>
                    <a:pt x="3363148" y="1016000"/>
                  </a:cubicBezTo>
                  <a:lnTo>
                    <a:pt x="65852" y="1016000"/>
                  </a:lnTo>
                  <a:cubicBezTo>
                    <a:pt x="29483" y="1016000"/>
                    <a:pt x="0" y="986517"/>
                    <a:pt x="0" y="950148"/>
                  </a:cubicBezTo>
                  <a:lnTo>
                    <a:pt x="0" y="65852"/>
                  </a:lnTo>
                  <a:cubicBezTo>
                    <a:pt x="0" y="29483"/>
                    <a:pt x="29483" y="0"/>
                    <a:pt x="65852" y="0"/>
                  </a:cubicBezTo>
                  <a:close/>
                </a:path>
              </a:pathLst>
            </a:custGeom>
            <a:solidFill>
              <a:srgbClr val="EAF2FF"/>
            </a:solidFill>
            <a:ln cap="sq">
              <a:noFill/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9525"/>
              <a:ext cx="3429000" cy="1006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4213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SQL QUERY</a:t>
              </a:r>
            </a:p>
          </p:txBody>
        </p:sp>
      </p:grpSp>
      <p:sp>
        <p:nvSpPr>
          <p:cNvPr id="33" name="AutoShape 33"/>
          <p:cNvSpPr/>
          <p:nvPr/>
        </p:nvSpPr>
        <p:spPr>
          <a:xfrm>
            <a:off x="10144125" y="6858000"/>
            <a:ext cx="666750" cy="0"/>
          </a:xfrm>
          <a:prstGeom prst="line">
            <a:avLst/>
          </a:prstGeom>
          <a:ln w="28575" cap="rnd">
            <a:solidFill>
              <a:srgbClr val="1769E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34" name="Group 34"/>
          <p:cNvGrpSpPr/>
          <p:nvPr/>
        </p:nvGrpSpPr>
        <p:grpSpPr>
          <a:xfrm>
            <a:off x="10858500" y="6477000"/>
            <a:ext cx="2571750" cy="762000"/>
            <a:chOff x="0" y="0"/>
            <a:chExt cx="3429000" cy="10160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3429000" cy="1016000"/>
            </a:xfrm>
            <a:custGeom>
              <a:avLst/>
              <a:gdLst/>
              <a:ahLst/>
              <a:cxnLst/>
              <a:rect l="l" t="t" r="r" b="b"/>
              <a:pathLst>
                <a:path w="3429000" h="1016000">
                  <a:moveTo>
                    <a:pt x="65852" y="0"/>
                  </a:moveTo>
                  <a:lnTo>
                    <a:pt x="3363148" y="0"/>
                  </a:lnTo>
                  <a:cubicBezTo>
                    <a:pt x="3399517" y="0"/>
                    <a:pt x="3429000" y="29483"/>
                    <a:pt x="3429000" y="65852"/>
                  </a:cubicBezTo>
                  <a:lnTo>
                    <a:pt x="3429000" y="950148"/>
                  </a:lnTo>
                  <a:cubicBezTo>
                    <a:pt x="3429000" y="986517"/>
                    <a:pt x="3399517" y="1016000"/>
                    <a:pt x="3363148" y="1016000"/>
                  </a:cubicBezTo>
                  <a:lnTo>
                    <a:pt x="65852" y="1016000"/>
                  </a:lnTo>
                  <a:cubicBezTo>
                    <a:pt x="29483" y="1016000"/>
                    <a:pt x="0" y="986517"/>
                    <a:pt x="0" y="950148"/>
                  </a:cubicBezTo>
                  <a:lnTo>
                    <a:pt x="0" y="65852"/>
                  </a:lnTo>
                  <a:cubicBezTo>
                    <a:pt x="0" y="29483"/>
                    <a:pt x="29483" y="0"/>
                    <a:pt x="65852" y="0"/>
                  </a:cubicBezTo>
                  <a:close/>
                </a:path>
              </a:pathLst>
            </a:custGeom>
            <a:solidFill>
              <a:srgbClr val="EAF2FF"/>
            </a:solidFill>
            <a:ln cap="sq">
              <a:noFill/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0" y="9525"/>
              <a:ext cx="3429000" cy="1006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4213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SQLITE RECORD</a:t>
              </a:r>
            </a:p>
          </p:txBody>
        </p:sp>
      </p:grpSp>
      <p:sp>
        <p:nvSpPr>
          <p:cNvPr id="37" name="AutoShape 37"/>
          <p:cNvSpPr/>
          <p:nvPr/>
        </p:nvSpPr>
        <p:spPr>
          <a:xfrm>
            <a:off x="13477875" y="6858000"/>
            <a:ext cx="666750" cy="0"/>
          </a:xfrm>
          <a:prstGeom prst="line">
            <a:avLst/>
          </a:prstGeom>
          <a:ln w="28575" cap="rnd">
            <a:solidFill>
              <a:srgbClr val="1769E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38" name="Group 38"/>
          <p:cNvGrpSpPr/>
          <p:nvPr/>
        </p:nvGrpSpPr>
        <p:grpSpPr>
          <a:xfrm>
            <a:off x="14192250" y="6477000"/>
            <a:ext cx="2571750" cy="762000"/>
            <a:chOff x="0" y="0"/>
            <a:chExt cx="3429000" cy="10160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3429000" cy="1016000"/>
            </a:xfrm>
            <a:custGeom>
              <a:avLst/>
              <a:gdLst/>
              <a:ahLst/>
              <a:cxnLst/>
              <a:rect l="l" t="t" r="r" b="b"/>
              <a:pathLst>
                <a:path w="3429000" h="1016000">
                  <a:moveTo>
                    <a:pt x="65852" y="0"/>
                  </a:moveTo>
                  <a:lnTo>
                    <a:pt x="3363148" y="0"/>
                  </a:lnTo>
                  <a:cubicBezTo>
                    <a:pt x="3399517" y="0"/>
                    <a:pt x="3429000" y="29483"/>
                    <a:pt x="3429000" y="65852"/>
                  </a:cubicBezTo>
                  <a:lnTo>
                    <a:pt x="3429000" y="950148"/>
                  </a:lnTo>
                  <a:cubicBezTo>
                    <a:pt x="3429000" y="986517"/>
                    <a:pt x="3399517" y="1016000"/>
                    <a:pt x="3363148" y="1016000"/>
                  </a:cubicBezTo>
                  <a:lnTo>
                    <a:pt x="65852" y="1016000"/>
                  </a:lnTo>
                  <a:cubicBezTo>
                    <a:pt x="29483" y="1016000"/>
                    <a:pt x="0" y="986517"/>
                    <a:pt x="0" y="950148"/>
                  </a:cubicBezTo>
                  <a:lnTo>
                    <a:pt x="0" y="65852"/>
                  </a:lnTo>
                  <a:cubicBezTo>
                    <a:pt x="0" y="29483"/>
                    <a:pt x="29483" y="0"/>
                    <a:pt x="65852" y="0"/>
                  </a:cubicBezTo>
                  <a:close/>
                </a:path>
              </a:pathLst>
            </a:custGeom>
            <a:solidFill>
              <a:srgbClr val="E8F7F1"/>
            </a:solidFill>
            <a:ln cap="sq">
              <a:noFill/>
              <a:prstDash val="solid"/>
              <a:miter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0" y="9525"/>
              <a:ext cx="3429000" cy="1006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1F9D7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VERIFIED RESULT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838200" y="8362950"/>
            <a:ext cx="15716250" cy="278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87"/>
              </a:lnSpc>
            </a:pPr>
            <a:r>
              <a:rPr lang="en-US" sz="2025" b="1">
                <a:solidFill>
                  <a:srgbClr val="1421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GenAI model does not store ticket data. Final information is retrieved from SQLite.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38200" y="388144"/>
            <a:ext cx="16640175" cy="469106"/>
            <a:chOff x="0" y="9525"/>
            <a:chExt cx="22186900" cy="625475"/>
          </a:xfrm>
        </p:grpSpPr>
        <p:sp>
          <p:nvSpPr>
            <p:cNvPr id="3" name="TextBox 3"/>
            <p:cNvSpPr txBox="1"/>
            <p:nvPr/>
          </p:nvSpPr>
          <p:spPr>
            <a:xfrm>
              <a:off x="0" y="19050"/>
              <a:ext cx="18415000" cy="4330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2250" b="1">
                  <a:solidFill>
                    <a:srgbClr val="14213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Implementation &amp; Coding</a:t>
              </a:r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0" y="609600"/>
              <a:ext cx="22148800" cy="25400"/>
              <a:chOff x="0" y="0"/>
              <a:chExt cx="22148800" cy="254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221488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2148800" h="25400">
                    <a:moveTo>
                      <a:pt x="0" y="0"/>
                    </a:moveTo>
                    <a:lnTo>
                      <a:pt x="22148800" y="0"/>
                    </a:lnTo>
                    <a:lnTo>
                      <a:pt x="221488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D9E2EF"/>
              </a:solidFill>
              <a:ln w="9525" cap="sq">
                <a:solidFill>
                  <a:srgbClr val="D9E2EF"/>
                </a:solidFill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22148800" cy="63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21043900" y="9525"/>
              <a:ext cx="1143000" cy="3536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310"/>
                </a:lnSpc>
              </a:pPr>
              <a:r>
                <a:rPr lang="en-US" sz="1650" b="1" spc="132">
                  <a:solidFill>
                    <a:srgbClr val="1769E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08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38200" y="1428750"/>
            <a:ext cx="10287000" cy="1047750"/>
            <a:chOff x="0" y="0"/>
            <a:chExt cx="13716000" cy="1397000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13716000" cy="1397000"/>
              <a:chOff x="0" y="0"/>
              <a:chExt cx="13716000" cy="13970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3716000" cy="1397000"/>
              </a:xfrm>
              <a:custGeom>
                <a:avLst/>
                <a:gdLst/>
                <a:ahLst/>
                <a:cxnLst/>
                <a:rect l="l" t="t" r="r" b="b"/>
                <a:pathLst>
                  <a:path w="13716000" h="1397000">
                    <a:moveTo>
                      <a:pt x="0" y="0"/>
                    </a:moveTo>
                    <a:lnTo>
                      <a:pt x="13716000" y="0"/>
                    </a:lnTo>
                    <a:lnTo>
                      <a:pt x="13716000" y="1397000"/>
                    </a:lnTo>
                    <a:lnTo>
                      <a:pt x="0" y="1397000"/>
                    </a:lnTo>
                    <a:close/>
                  </a:path>
                </a:pathLst>
              </a:custGeom>
              <a:solidFill>
                <a:srgbClr val="F7F9FC"/>
              </a:solidFill>
              <a:ln w="9525" cap="sq">
                <a:solidFill>
                  <a:srgbClr val="D9E2EF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13716000" cy="143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406400" y="241300"/>
              <a:ext cx="7620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1" spc="144">
                  <a:solidFill>
                    <a:srgbClr val="1769E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49400" y="257175"/>
              <a:ext cx="3175000" cy="3950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68"/>
                </a:lnSpc>
              </a:pPr>
              <a:r>
                <a:rPr lang="en-US" sz="2100" b="1">
                  <a:solidFill>
                    <a:srgbClr val="14213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DATABASE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232400" y="295275"/>
              <a:ext cx="8001000" cy="3486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42"/>
                </a:lnSpc>
              </a:pPr>
              <a:r>
                <a:rPr lang="en-US" sz="1725">
                  <a:solidFill>
                    <a:srgbClr val="14213D"/>
                  </a:solidFill>
                  <a:latin typeface="DM Sans"/>
                  <a:ea typeface="DM Sans"/>
                  <a:cs typeface="DM Sans"/>
                  <a:sym typeface="DM Sans"/>
                </a:rPr>
                <a:t>SQLite connection · SQL queries · ticket retrieval</a:t>
              </a:r>
            </a:p>
          </p:txBody>
        </p:sp>
      </p:grpSp>
      <p:sp>
        <p:nvSpPr>
          <p:cNvPr id="16" name="AutoShape 16"/>
          <p:cNvSpPr/>
          <p:nvPr/>
        </p:nvSpPr>
        <p:spPr>
          <a:xfrm>
            <a:off x="11287125" y="1952625"/>
            <a:ext cx="619125" cy="1476375"/>
          </a:xfrm>
          <a:prstGeom prst="line">
            <a:avLst/>
          </a:prstGeom>
          <a:ln w="28575" cap="rnd">
            <a:solidFill>
              <a:srgbClr val="1769E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7" name="Group 17"/>
          <p:cNvGrpSpPr/>
          <p:nvPr/>
        </p:nvGrpSpPr>
        <p:grpSpPr>
          <a:xfrm>
            <a:off x="838200" y="2905125"/>
            <a:ext cx="10287000" cy="1047750"/>
            <a:chOff x="0" y="0"/>
            <a:chExt cx="13716000" cy="1397000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0"/>
              <a:ext cx="13716000" cy="1397000"/>
              <a:chOff x="0" y="0"/>
              <a:chExt cx="13716000" cy="13970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3716000" cy="1397000"/>
              </a:xfrm>
              <a:custGeom>
                <a:avLst/>
                <a:gdLst/>
                <a:ahLst/>
                <a:cxnLst/>
                <a:rect l="l" t="t" r="r" b="b"/>
                <a:pathLst>
                  <a:path w="13716000" h="1397000">
                    <a:moveTo>
                      <a:pt x="0" y="0"/>
                    </a:moveTo>
                    <a:lnTo>
                      <a:pt x="13716000" y="0"/>
                    </a:lnTo>
                    <a:lnTo>
                      <a:pt x="13716000" y="1397000"/>
                    </a:lnTo>
                    <a:lnTo>
                      <a:pt x="0" y="1397000"/>
                    </a:lnTo>
                    <a:close/>
                  </a:path>
                </a:pathLst>
              </a:custGeom>
              <a:solidFill>
                <a:srgbClr val="F7F9FC"/>
              </a:solidFill>
              <a:ln w="9525" cap="sq">
                <a:solidFill>
                  <a:srgbClr val="D9E2EF"/>
                </a:solidFill>
                <a:prstDash val="solid"/>
                <a:miter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13716000" cy="143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406400" y="241300"/>
              <a:ext cx="7620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1" spc="144">
                  <a:solidFill>
                    <a:srgbClr val="1769E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549400" y="257175"/>
              <a:ext cx="3175000" cy="3950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68"/>
                </a:lnSpc>
              </a:pPr>
              <a:r>
                <a:rPr lang="en-US" sz="2100" b="1">
                  <a:solidFill>
                    <a:srgbClr val="14213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AGENTS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32400" y="295275"/>
              <a:ext cx="8001000" cy="3486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42"/>
                </a:lnSpc>
              </a:pPr>
              <a:r>
                <a:rPr lang="en-US" sz="1725">
                  <a:solidFill>
                    <a:srgbClr val="14213D"/>
                  </a:solidFill>
                  <a:latin typeface="DM Sans"/>
                  <a:ea typeface="DM Sans"/>
                  <a:cs typeface="DM Sans"/>
                  <a:sym typeface="DM Sans"/>
                </a:rPr>
                <a:t>Ticket · Transaction · Passenger · Admin</a:t>
              </a:r>
            </a:p>
          </p:txBody>
        </p:sp>
      </p:grpSp>
      <p:sp>
        <p:nvSpPr>
          <p:cNvPr id="24" name="AutoShape 24"/>
          <p:cNvSpPr/>
          <p:nvPr/>
        </p:nvSpPr>
        <p:spPr>
          <a:xfrm>
            <a:off x="11287125" y="3429000"/>
            <a:ext cx="619125" cy="1476375"/>
          </a:xfrm>
          <a:prstGeom prst="line">
            <a:avLst/>
          </a:prstGeom>
          <a:ln w="28575" cap="rnd">
            <a:solidFill>
              <a:srgbClr val="1769E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5" name="Group 25"/>
          <p:cNvGrpSpPr/>
          <p:nvPr/>
        </p:nvGrpSpPr>
        <p:grpSpPr>
          <a:xfrm>
            <a:off x="838200" y="4381500"/>
            <a:ext cx="10287000" cy="1047750"/>
            <a:chOff x="0" y="0"/>
            <a:chExt cx="13716000" cy="1397000"/>
          </a:xfrm>
        </p:grpSpPr>
        <p:grpSp>
          <p:nvGrpSpPr>
            <p:cNvPr id="26" name="Group 26"/>
            <p:cNvGrpSpPr/>
            <p:nvPr/>
          </p:nvGrpSpPr>
          <p:grpSpPr>
            <a:xfrm>
              <a:off x="0" y="0"/>
              <a:ext cx="13716000" cy="1397000"/>
              <a:chOff x="0" y="0"/>
              <a:chExt cx="13716000" cy="13970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13716000" cy="1397000"/>
              </a:xfrm>
              <a:custGeom>
                <a:avLst/>
                <a:gdLst/>
                <a:ahLst/>
                <a:cxnLst/>
                <a:rect l="l" t="t" r="r" b="b"/>
                <a:pathLst>
                  <a:path w="13716000" h="1397000">
                    <a:moveTo>
                      <a:pt x="0" y="0"/>
                    </a:moveTo>
                    <a:lnTo>
                      <a:pt x="13716000" y="0"/>
                    </a:lnTo>
                    <a:lnTo>
                      <a:pt x="13716000" y="1397000"/>
                    </a:lnTo>
                    <a:lnTo>
                      <a:pt x="0" y="1397000"/>
                    </a:lnTo>
                    <a:close/>
                  </a:path>
                </a:pathLst>
              </a:custGeom>
              <a:solidFill>
                <a:srgbClr val="EAF2FF"/>
              </a:solidFill>
              <a:ln w="9525" cap="sq">
                <a:solidFill>
                  <a:srgbClr val="1769E0"/>
                </a:solidFill>
                <a:prstDash val="solid"/>
                <a:miter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0" y="-38100"/>
                <a:ext cx="13716000" cy="143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406400" y="241300"/>
              <a:ext cx="7620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1" spc="144">
                  <a:solidFill>
                    <a:srgbClr val="1769E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549400" y="257175"/>
              <a:ext cx="3175000" cy="3950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68"/>
                </a:lnSpc>
              </a:pPr>
              <a:r>
                <a:rPr lang="en-US" sz="2100" b="1">
                  <a:solidFill>
                    <a:srgbClr val="14213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SUPERVISOR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232400" y="295275"/>
              <a:ext cx="8001000" cy="3486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42"/>
                </a:lnSpc>
              </a:pPr>
              <a:r>
                <a:rPr lang="en-US" sz="1725">
                  <a:solidFill>
                    <a:srgbClr val="14213D"/>
                  </a:solidFill>
                  <a:latin typeface="DM Sans"/>
                  <a:ea typeface="DM Sans"/>
                  <a:cs typeface="DM Sans"/>
                  <a:sym typeface="DM Sans"/>
                </a:rPr>
                <a:t>Qwen2.5-3B-Instruct · intent &amp; routing</a:t>
              </a:r>
            </a:p>
          </p:txBody>
        </p:sp>
      </p:grpSp>
      <p:sp>
        <p:nvSpPr>
          <p:cNvPr id="32" name="AutoShape 32"/>
          <p:cNvSpPr/>
          <p:nvPr/>
        </p:nvSpPr>
        <p:spPr>
          <a:xfrm>
            <a:off x="11287125" y="4905375"/>
            <a:ext cx="619125" cy="1476375"/>
          </a:xfrm>
          <a:prstGeom prst="line">
            <a:avLst/>
          </a:prstGeom>
          <a:ln w="28575" cap="rnd">
            <a:solidFill>
              <a:srgbClr val="1769E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33" name="Group 33"/>
          <p:cNvGrpSpPr/>
          <p:nvPr/>
        </p:nvGrpSpPr>
        <p:grpSpPr>
          <a:xfrm>
            <a:off x="838200" y="5857875"/>
            <a:ext cx="10287000" cy="1047750"/>
            <a:chOff x="0" y="0"/>
            <a:chExt cx="13716000" cy="1397000"/>
          </a:xfrm>
        </p:grpSpPr>
        <p:grpSp>
          <p:nvGrpSpPr>
            <p:cNvPr id="34" name="Group 34"/>
            <p:cNvGrpSpPr/>
            <p:nvPr/>
          </p:nvGrpSpPr>
          <p:grpSpPr>
            <a:xfrm>
              <a:off x="0" y="0"/>
              <a:ext cx="13716000" cy="1397000"/>
              <a:chOff x="0" y="0"/>
              <a:chExt cx="13716000" cy="13970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13716000" cy="1397000"/>
              </a:xfrm>
              <a:custGeom>
                <a:avLst/>
                <a:gdLst/>
                <a:ahLst/>
                <a:cxnLst/>
                <a:rect l="l" t="t" r="r" b="b"/>
                <a:pathLst>
                  <a:path w="13716000" h="1397000">
                    <a:moveTo>
                      <a:pt x="0" y="0"/>
                    </a:moveTo>
                    <a:lnTo>
                      <a:pt x="13716000" y="0"/>
                    </a:lnTo>
                    <a:lnTo>
                      <a:pt x="13716000" y="1397000"/>
                    </a:lnTo>
                    <a:lnTo>
                      <a:pt x="0" y="1397000"/>
                    </a:lnTo>
                    <a:close/>
                  </a:path>
                </a:pathLst>
              </a:custGeom>
              <a:solidFill>
                <a:srgbClr val="F7F9FC"/>
              </a:solidFill>
              <a:ln w="9525" cap="sq">
                <a:solidFill>
                  <a:srgbClr val="D9E2EF"/>
                </a:solidFill>
                <a:prstDash val="solid"/>
                <a:miter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0" y="-38100"/>
                <a:ext cx="13716000" cy="143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406400" y="241300"/>
              <a:ext cx="7620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1" spc="144">
                  <a:solidFill>
                    <a:srgbClr val="1769E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549400" y="257175"/>
              <a:ext cx="3175000" cy="3950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68"/>
                </a:lnSpc>
              </a:pPr>
              <a:r>
                <a:rPr lang="en-US" sz="2100" b="1">
                  <a:solidFill>
                    <a:srgbClr val="14213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LANGGRAPH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232400" y="295275"/>
              <a:ext cx="8001000" cy="3486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42"/>
                </a:lnSpc>
              </a:pPr>
              <a:r>
                <a:rPr lang="en-US" sz="1725">
                  <a:solidFill>
                    <a:srgbClr val="14213D"/>
                  </a:solidFill>
                  <a:latin typeface="DM Sans"/>
                  <a:ea typeface="DM Sans"/>
                  <a:cs typeface="DM Sans"/>
                  <a:sym typeface="DM Sans"/>
                </a:rPr>
                <a:t>StateGraph · conditional workflow</a:t>
              </a:r>
            </a:p>
          </p:txBody>
        </p:sp>
      </p:grpSp>
      <p:sp>
        <p:nvSpPr>
          <p:cNvPr id="40" name="AutoShape 40"/>
          <p:cNvSpPr/>
          <p:nvPr/>
        </p:nvSpPr>
        <p:spPr>
          <a:xfrm>
            <a:off x="11287125" y="6381750"/>
            <a:ext cx="619125" cy="1476375"/>
          </a:xfrm>
          <a:prstGeom prst="line">
            <a:avLst/>
          </a:prstGeom>
          <a:ln w="28575" cap="rnd">
            <a:solidFill>
              <a:srgbClr val="1769E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41" name="Group 41"/>
          <p:cNvGrpSpPr/>
          <p:nvPr/>
        </p:nvGrpSpPr>
        <p:grpSpPr>
          <a:xfrm>
            <a:off x="838200" y="7334250"/>
            <a:ext cx="10287000" cy="1047750"/>
            <a:chOff x="0" y="0"/>
            <a:chExt cx="13716000" cy="1397000"/>
          </a:xfrm>
        </p:grpSpPr>
        <p:grpSp>
          <p:nvGrpSpPr>
            <p:cNvPr id="42" name="Group 42"/>
            <p:cNvGrpSpPr/>
            <p:nvPr/>
          </p:nvGrpSpPr>
          <p:grpSpPr>
            <a:xfrm>
              <a:off x="0" y="0"/>
              <a:ext cx="13716000" cy="1397000"/>
              <a:chOff x="0" y="0"/>
              <a:chExt cx="13716000" cy="13970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13716000" cy="1397000"/>
              </a:xfrm>
              <a:custGeom>
                <a:avLst/>
                <a:gdLst/>
                <a:ahLst/>
                <a:cxnLst/>
                <a:rect l="l" t="t" r="r" b="b"/>
                <a:pathLst>
                  <a:path w="13716000" h="1397000">
                    <a:moveTo>
                      <a:pt x="0" y="0"/>
                    </a:moveTo>
                    <a:lnTo>
                      <a:pt x="13716000" y="0"/>
                    </a:lnTo>
                    <a:lnTo>
                      <a:pt x="13716000" y="1397000"/>
                    </a:lnTo>
                    <a:lnTo>
                      <a:pt x="0" y="1397000"/>
                    </a:lnTo>
                    <a:close/>
                  </a:path>
                </a:pathLst>
              </a:custGeom>
              <a:solidFill>
                <a:srgbClr val="F7F9FC"/>
              </a:solidFill>
              <a:ln w="9525" cap="sq">
                <a:solidFill>
                  <a:srgbClr val="D9E2EF"/>
                </a:solidFill>
                <a:prstDash val="solid"/>
                <a:miter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0" y="-38100"/>
                <a:ext cx="13716000" cy="143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5" name="TextBox 45"/>
            <p:cNvSpPr txBox="1"/>
            <p:nvPr/>
          </p:nvSpPr>
          <p:spPr>
            <a:xfrm>
              <a:off x="406400" y="241300"/>
              <a:ext cx="7620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1" spc="144">
                  <a:solidFill>
                    <a:srgbClr val="1769E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5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549400" y="257175"/>
              <a:ext cx="3175000" cy="3950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68"/>
                </a:lnSpc>
              </a:pPr>
              <a:r>
                <a:rPr lang="en-US" sz="2100" b="1">
                  <a:solidFill>
                    <a:srgbClr val="14213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STREAMLIT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232400" y="295275"/>
              <a:ext cx="8001000" cy="3486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42"/>
                </a:lnSpc>
              </a:pPr>
              <a:r>
                <a:rPr lang="en-US" sz="1725">
                  <a:solidFill>
                    <a:srgbClr val="14213D"/>
                  </a:solidFill>
                  <a:latin typeface="DM Sans"/>
                  <a:ea typeface="DM Sans"/>
                  <a:cs typeface="DM Sans"/>
                  <a:sym typeface="DM Sans"/>
                </a:rPr>
                <a:t>Query input · verified result display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2001500" y="1714500"/>
            <a:ext cx="5429250" cy="3238500"/>
            <a:chOff x="0" y="0"/>
            <a:chExt cx="7239000" cy="4318000"/>
          </a:xfrm>
        </p:grpSpPr>
        <p:grpSp>
          <p:nvGrpSpPr>
            <p:cNvPr id="49" name="Group 49"/>
            <p:cNvGrpSpPr/>
            <p:nvPr/>
          </p:nvGrpSpPr>
          <p:grpSpPr>
            <a:xfrm>
              <a:off x="0" y="0"/>
              <a:ext cx="7239000" cy="4318000"/>
              <a:chOff x="0" y="0"/>
              <a:chExt cx="7239000" cy="431800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7239000" cy="4318000"/>
              </a:xfrm>
              <a:custGeom>
                <a:avLst/>
                <a:gdLst/>
                <a:ahLst/>
                <a:cxnLst/>
                <a:rect l="l" t="t" r="r" b="b"/>
                <a:pathLst>
                  <a:path w="7239000" h="4318000">
                    <a:moveTo>
                      <a:pt x="0" y="0"/>
                    </a:moveTo>
                    <a:lnTo>
                      <a:pt x="7239000" y="0"/>
                    </a:lnTo>
                    <a:lnTo>
                      <a:pt x="7239000" y="4318000"/>
                    </a:lnTo>
                    <a:lnTo>
                      <a:pt x="0" y="4318000"/>
                    </a:lnTo>
                    <a:close/>
                  </a:path>
                </a:pathLst>
              </a:custGeom>
              <a:solidFill>
                <a:srgbClr val="EEF4FB"/>
              </a:solidFill>
              <a:ln w="9525" cap="sq">
                <a:solidFill>
                  <a:srgbClr val="1769E0"/>
                </a:solidFill>
                <a:prstDash val="solid"/>
                <a:miter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0" y="-38100"/>
                <a:ext cx="7239000" cy="4356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52" name="TextBox 52"/>
            <p:cNvSpPr txBox="1"/>
            <p:nvPr/>
          </p:nvSpPr>
          <p:spPr>
            <a:xfrm>
              <a:off x="508000" y="361950"/>
              <a:ext cx="6350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b="1" spc="108">
                  <a:solidFill>
                    <a:srgbClr val="1769E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REPRESENTATIVE ROUTING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08000" y="1187450"/>
              <a:ext cx="6350000" cy="2066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14213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route = supervisor(query)</a:t>
              </a:r>
            </a:p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14213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result = agents[route](query)</a:t>
              </a:r>
            </a:p>
            <a:p>
              <a:pPr algn="l">
                <a:lnSpc>
                  <a:spcPts val="2531"/>
                </a:lnSpc>
              </a:pPr>
              <a:endParaRPr lang="en-US" sz="1875">
                <a:solidFill>
                  <a:srgbClr val="14213D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14213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SELECT * FROM tickets</a:t>
              </a:r>
            </a:p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14213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WHERE Transaction_ID = ?</a:t>
              </a:r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12382500" y="5362575"/>
            <a:ext cx="4572000" cy="860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sz="2100" b="1">
                <a:solidFill>
                  <a:srgbClr val="1421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workflow separates reasoning, routing, retrieval, and presentation.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CE128EB-2511-9C89-D12B-7559E6FA7EA8}"/>
              </a:ext>
            </a:extLst>
          </p:cNvPr>
          <p:cNvGrpSpPr/>
          <p:nvPr/>
        </p:nvGrpSpPr>
        <p:grpSpPr>
          <a:xfrm>
            <a:off x="838200" y="388144"/>
            <a:ext cx="16640175" cy="469106"/>
            <a:chOff x="0" y="9525"/>
            <a:chExt cx="22186900" cy="625475"/>
          </a:xfrm>
        </p:grpSpPr>
        <p:sp>
          <p:nvSpPr>
            <p:cNvPr id="3" name="TextBox 3">
              <a:extLst>
                <a:ext uri="{FF2B5EF4-FFF2-40B4-BE49-F238E27FC236}">
                  <a16:creationId xmlns:a16="http://schemas.microsoft.com/office/drawing/2014/main" id="{3AAC6A9C-B098-6A40-D30F-7D62903B7E72}"/>
                </a:ext>
              </a:extLst>
            </p:cNvPr>
            <p:cNvSpPr txBox="1"/>
            <p:nvPr/>
          </p:nvSpPr>
          <p:spPr>
            <a:xfrm>
              <a:off x="0" y="19050"/>
              <a:ext cx="18415000" cy="4330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2250" b="1">
                  <a:solidFill>
                    <a:srgbClr val="14213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System Demonstration — Administrator Dashboard</a:t>
              </a:r>
            </a:p>
          </p:txBody>
        </p:sp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BB86C1F6-14B2-34EB-2C77-43A705F2B2BA}"/>
                </a:ext>
              </a:extLst>
            </p:cNvPr>
            <p:cNvGrpSpPr/>
            <p:nvPr/>
          </p:nvGrpSpPr>
          <p:grpSpPr>
            <a:xfrm>
              <a:off x="0" y="609600"/>
              <a:ext cx="22148800" cy="25400"/>
              <a:chOff x="0" y="0"/>
              <a:chExt cx="22148800" cy="25400"/>
            </a:xfrm>
          </p:grpSpPr>
          <p:sp>
            <p:nvSpPr>
              <p:cNvPr id="7" name="Freeform 5">
                <a:extLst>
                  <a:ext uri="{FF2B5EF4-FFF2-40B4-BE49-F238E27FC236}">
                    <a16:creationId xmlns:a16="http://schemas.microsoft.com/office/drawing/2014/main" id="{448FC80F-EF3D-37BF-8DAC-E1ACF6035130}"/>
                  </a:ext>
                </a:extLst>
              </p:cNvPr>
              <p:cNvSpPr/>
              <p:nvPr/>
            </p:nvSpPr>
            <p:spPr>
              <a:xfrm>
                <a:off x="0" y="0"/>
                <a:ext cx="221488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2148800" h="25400">
                    <a:moveTo>
                      <a:pt x="0" y="0"/>
                    </a:moveTo>
                    <a:lnTo>
                      <a:pt x="22148800" y="0"/>
                    </a:lnTo>
                    <a:lnTo>
                      <a:pt x="221488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D9E2EF"/>
              </a:solidFill>
              <a:ln w="9525" cap="sq">
                <a:solidFill>
                  <a:srgbClr val="D9E2EF"/>
                </a:solidFill>
                <a:prstDash val="solid"/>
                <a:miter/>
              </a:ln>
            </p:spPr>
          </p:sp>
          <p:sp>
            <p:nvSpPr>
              <p:cNvPr id="8" name="TextBox 6">
                <a:extLst>
                  <a:ext uri="{FF2B5EF4-FFF2-40B4-BE49-F238E27FC236}">
                    <a16:creationId xmlns:a16="http://schemas.microsoft.com/office/drawing/2014/main" id="{62DCCF89-76BC-A6A2-E8CB-35C35F0740C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2148800" cy="63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5" name="TextBox 7">
              <a:extLst>
                <a:ext uri="{FF2B5EF4-FFF2-40B4-BE49-F238E27FC236}">
                  <a16:creationId xmlns:a16="http://schemas.microsoft.com/office/drawing/2014/main" id="{4D618F46-551B-68CC-2B11-9F7C87C6C53F}"/>
                </a:ext>
              </a:extLst>
            </p:cNvPr>
            <p:cNvSpPr txBox="1"/>
            <p:nvPr/>
          </p:nvSpPr>
          <p:spPr>
            <a:xfrm>
              <a:off x="21043900" y="9525"/>
              <a:ext cx="1143000" cy="3755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310"/>
                </a:lnSpc>
              </a:pPr>
              <a:r>
                <a:rPr lang="en-US" sz="1650" b="1" spc="132" dirty="0">
                  <a:solidFill>
                    <a:srgbClr val="1769E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9</a:t>
              </a:r>
            </a:p>
          </p:txBody>
        </p:sp>
      </p:grpSp>
      <p:sp>
        <p:nvSpPr>
          <p:cNvPr id="50" name="TextBox 50">
            <a:extLst>
              <a:ext uri="{FF2B5EF4-FFF2-40B4-BE49-F238E27FC236}">
                <a16:creationId xmlns:a16="http://schemas.microsoft.com/office/drawing/2014/main" id="{B39F10F0-653E-83F5-0666-158E6F1949B7}"/>
              </a:ext>
            </a:extLst>
          </p:cNvPr>
          <p:cNvSpPr txBox="1"/>
          <p:nvPr/>
        </p:nvSpPr>
        <p:spPr>
          <a:xfrm>
            <a:off x="3048000" y="9349740"/>
            <a:ext cx="12573000" cy="255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5"/>
              </a:lnSpc>
            </a:pPr>
            <a:r>
              <a:rPr lang="en-US" sz="1650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Figure: Main Dashboard of the GenAI-Powered Indian Railways Administrator System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145EA485-95D1-E600-38F8-45E3AEC08691}"/>
              </a:ext>
            </a:extLst>
          </p:cNvPr>
          <p:cNvSpPr txBox="1"/>
          <p:nvPr/>
        </p:nvSpPr>
        <p:spPr>
          <a:xfrm>
            <a:off x="16859250" y="5598319"/>
            <a:ext cx="400050" cy="42148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995"/>
              </a:lnSpc>
            </a:pPr>
            <a:endParaRPr lang="en-US" sz="1425" b="1" dirty="0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pic>
        <p:nvPicPr>
          <p:cNvPr id="78" name="Picture 77" descr="The image is a dashboard displaying the Indian Railways Administrator's ticket management system, showing the status of various tickets, including confirmed, waiting list, cancelled tickets, and a search query for a specific ticket ID.&#10;&#10;AI-generated content may be incorrect.">
            <a:extLst>
              <a:ext uri="{FF2B5EF4-FFF2-40B4-BE49-F238E27FC236}">
                <a16:creationId xmlns:a16="http://schemas.microsoft.com/office/drawing/2014/main" id="{24AA2926-C32E-CD36-DAB5-434A54C0B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972627"/>
            <a:ext cx="16640175" cy="8261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552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38200" y="388144"/>
            <a:ext cx="16640175" cy="469106"/>
            <a:chOff x="0" y="9525"/>
            <a:chExt cx="22186900" cy="625475"/>
          </a:xfrm>
        </p:grpSpPr>
        <p:sp>
          <p:nvSpPr>
            <p:cNvPr id="3" name="TextBox 3"/>
            <p:cNvSpPr txBox="1"/>
            <p:nvPr/>
          </p:nvSpPr>
          <p:spPr>
            <a:xfrm>
              <a:off x="0" y="19050"/>
              <a:ext cx="18415000" cy="4330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2250" b="1" dirty="0">
                  <a:solidFill>
                    <a:srgbClr val="14213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Query Execution &amp; Final Output</a:t>
              </a:r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0" y="609600"/>
              <a:ext cx="22148800" cy="25400"/>
              <a:chOff x="0" y="0"/>
              <a:chExt cx="22148800" cy="254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221488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2148800" h="25400">
                    <a:moveTo>
                      <a:pt x="0" y="0"/>
                    </a:moveTo>
                    <a:lnTo>
                      <a:pt x="22148800" y="0"/>
                    </a:lnTo>
                    <a:lnTo>
                      <a:pt x="221488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D9E2EF"/>
              </a:solidFill>
              <a:ln w="9525" cap="sq">
                <a:solidFill>
                  <a:srgbClr val="D9E2EF"/>
                </a:solidFill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22148800" cy="63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 dirty="0"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21043900" y="9525"/>
              <a:ext cx="1143000" cy="3755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310"/>
                </a:lnSpc>
              </a:pPr>
              <a:r>
                <a:rPr lang="en-US" sz="1650" b="1" spc="132" dirty="0">
                  <a:solidFill>
                    <a:srgbClr val="1769E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10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28600" y="1209675"/>
            <a:ext cx="8839200" cy="5934075"/>
            <a:chOff x="0" y="-38100"/>
            <a:chExt cx="9906000" cy="7912100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-38100"/>
              <a:ext cx="9906000" cy="7912100"/>
              <a:chOff x="0" y="-38100"/>
              <a:chExt cx="9906000" cy="79121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9906000" cy="7874000"/>
              </a:xfrm>
              <a:custGeom>
                <a:avLst/>
                <a:gdLst/>
                <a:ahLst/>
                <a:cxnLst/>
                <a:rect l="l" t="t" r="r" b="b"/>
                <a:pathLst>
                  <a:path w="9906000" h="7874000">
                    <a:moveTo>
                      <a:pt x="0" y="0"/>
                    </a:moveTo>
                    <a:lnTo>
                      <a:pt x="9906000" y="0"/>
                    </a:lnTo>
                    <a:lnTo>
                      <a:pt x="9906000" y="7874000"/>
                    </a:lnTo>
                    <a:lnTo>
                      <a:pt x="0" y="7874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9E2EF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9906000" cy="7912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406400" y="234950"/>
              <a:ext cx="8636000" cy="3009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5" b="1" spc="114">
                  <a:solidFill>
                    <a:srgbClr val="1769E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TRANSACTION ID QUERY INPUT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9900" y="1358900"/>
              <a:ext cx="8890000" cy="295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48400" y="5089525"/>
              <a:ext cx="2794000" cy="942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SEARCH</a:t>
              </a:r>
            </a:p>
          </p:txBody>
        </p:sp>
      </p:grpSp>
      <p:sp>
        <p:nvSpPr>
          <p:cNvPr id="22" name="AutoShape 22"/>
          <p:cNvSpPr/>
          <p:nvPr/>
        </p:nvSpPr>
        <p:spPr>
          <a:xfrm>
            <a:off x="9120553" y="4319587"/>
            <a:ext cx="484895" cy="0"/>
          </a:xfrm>
          <a:prstGeom prst="line">
            <a:avLst/>
          </a:prstGeom>
          <a:ln w="28575" cap="rnd">
            <a:solidFill>
              <a:srgbClr val="F59E0B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3" name="Group 23"/>
          <p:cNvGrpSpPr/>
          <p:nvPr/>
        </p:nvGrpSpPr>
        <p:grpSpPr>
          <a:xfrm>
            <a:off x="9601200" y="1238250"/>
            <a:ext cx="8458200" cy="5905500"/>
            <a:chOff x="0" y="0"/>
            <a:chExt cx="9398000" cy="7874000"/>
          </a:xfrm>
        </p:grpSpPr>
        <p:grpSp>
          <p:nvGrpSpPr>
            <p:cNvPr id="24" name="Group 24"/>
            <p:cNvGrpSpPr/>
            <p:nvPr/>
          </p:nvGrpSpPr>
          <p:grpSpPr>
            <a:xfrm>
              <a:off x="0" y="0"/>
              <a:ext cx="9398000" cy="7874000"/>
              <a:chOff x="0" y="0"/>
              <a:chExt cx="9398000" cy="78740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9398000" cy="7874000"/>
              </a:xfrm>
              <a:custGeom>
                <a:avLst/>
                <a:gdLst/>
                <a:ahLst/>
                <a:cxnLst/>
                <a:rect l="l" t="t" r="r" b="b"/>
                <a:pathLst>
                  <a:path w="9398000" h="7874000">
                    <a:moveTo>
                      <a:pt x="0" y="0"/>
                    </a:moveTo>
                    <a:lnTo>
                      <a:pt x="9398000" y="0"/>
                    </a:lnTo>
                    <a:lnTo>
                      <a:pt x="9398000" y="7874000"/>
                    </a:lnTo>
                    <a:lnTo>
                      <a:pt x="0" y="7874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1F9D7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-38100"/>
                <a:ext cx="9398000" cy="7912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381000" y="234950"/>
              <a:ext cx="8636000" cy="3009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5" b="1" spc="114">
                  <a:solidFill>
                    <a:srgbClr val="1769E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TRANSACTION ID QUERY OUTPUT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5000" y="1231900"/>
              <a:ext cx="127000" cy="486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2571750" y="7781925"/>
            <a:ext cx="13144500" cy="687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0"/>
              </a:lnSpc>
            </a:pPr>
            <a:r>
              <a:rPr lang="en-US" sz="2100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The Transaction Agent retrieves the corresponding ticket information from SQLite and returns the verified record.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810000" y="8934450"/>
            <a:ext cx="106680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350" b="1" spc="108">
                <a:solidFill>
                  <a:srgbClr val="1769E0"/>
                </a:solidFill>
                <a:latin typeface="DM Sans Bold"/>
                <a:ea typeface="DM Sans Bold"/>
                <a:cs typeface="DM Sans Bold"/>
                <a:sym typeface="DM Sans Bold"/>
              </a:rPr>
              <a:t>RELATED EVIDENCE: Ticket Details Query • Ticket Fare Query</a:t>
            </a:r>
          </a:p>
        </p:txBody>
      </p:sp>
      <p:pic>
        <p:nvPicPr>
          <p:cNvPr id="35" name="Picture 34" descr="The image displays the interface of the GenAl Powered Ticket &amp; Transaction Information System, featuring various sections for ticket details, including total tickets, waiting list, cancelled tickets, and a railway information search feature.&#10;&#10;AI-generated content may be incorrect.">
            <a:extLst>
              <a:ext uri="{FF2B5EF4-FFF2-40B4-BE49-F238E27FC236}">
                <a16:creationId xmlns:a16="http://schemas.microsoft.com/office/drawing/2014/main" id="{EB9EDBF7-14B8-817D-D57D-C697E52B97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99" y="1816419"/>
            <a:ext cx="8839199" cy="5679756"/>
          </a:xfrm>
          <a:prstGeom prst="rect">
            <a:avLst/>
          </a:prstGeom>
        </p:spPr>
      </p:pic>
      <p:pic>
        <p:nvPicPr>
          <p:cNvPr id="36" name="Picture 35" descr="The image displays a user interface with a railway information search form, where the user queries for a ticket ID, receives a success message, and is informed that no ticket ID was found.&#10;&#10;AI-generated content may be incorrect.">
            <a:extLst>
              <a:ext uri="{FF2B5EF4-FFF2-40B4-BE49-F238E27FC236}">
                <a16:creationId xmlns:a16="http://schemas.microsoft.com/office/drawing/2014/main" id="{EFB182A2-25A3-59E9-6637-0DFAA9A2FF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1887853"/>
            <a:ext cx="8458200" cy="560831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A5161F2-475A-8E32-25DE-FB7AB828D063}"/>
              </a:ext>
            </a:extLst>
          </p:cNvPr>
          <p:cNvGrpSpPr/>
          <p:nvPr/>
        </p:nvGrpSpPr>
        <p:grpSpPr>
          <a:xfrm>
            <a:off x="838200" y="388144"/>
            <a:ext cx="16640175" cy="469106"/>
            <a:chOff x="0" y="9525"/>
            <a:chExt cx="22186900" cy="62547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413816F-2E04-A528-0E05-822ECF7A788B}"/>
                </a:ext>
              </a:extLst>
            </p:cNvPr>
            <p:cNvSpPr txBox="1"/>
            <p:nvPr/>
          </p:nvSpPr>
          <p:spPr>
            <a:xfrm>
              <a:off x="0" y="19050"/>
              <a:ext cx="18415000" cy="4103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0"/>
                </a:lnSpc>
              </a:pPr>
              <a:endParaRPr lang="en-US" sz="2250" b="1" dirty="0">
                <a:solidFill>
                  <a:srgbClr val="14213D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1C5CDBE-6543-F472-28E9-6D2863353F1C}"/>
                </a:ext>
              </a:extLst>
            </p:cNvPr>
            <p:cNvGrpSpPr/>
            <p:nvPr/>
          </p:nvGrpSpPr>
          <p:grpSpPr>
            <a:xfrm>
              <a:off x="0" y="609600"/>
              <a:ext cx="22148800" cy="25400"/>
              <a:chOff x="0" y="0"/>
              <a:chExt cx="22148800" cy="25400"/>
            </a:xfrm>
          </p:grpSpPr>
          <p:sp>
            <p:nvSpPr>
              <p:cNvPr id="8" name="Freeform 5">
                <a:extLst>
                  <a:ext uri="{FF2B5EF4-FFF2-40B4-BE49-F238E27FC236}">
                    <a16:creationId xmlns:a16="http://schemas.microsoft.com/office/drawing/2014/main" id="{023D4BC5-1E86-2B32-D6EA-3CD23BF27447}"/>
                  </a:ext>
                </a:extLst>
              </p:cNvPr>
              <p:cNvSpPr/>
              <p:nvPr/>
            </p:nvSpPr>
            <p:spPr>
              <a:xfrm>
                <a:off x="0" y="0"/>
                <a:ext cx="221488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2148800" h="25400">
                    <a:moveTo>
                      <a:pt x="0" y="0"/>
                    </a:moveTo>
                    <a:lnTo>
                      <a:pt x="22148800" y="0"/>
                    </a:lnTo>
                    <a:lnTo>
                      <a:pt x="221488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D9E2EF"/>
              </a:solidFill>
              <a:ln w="9525" cap="sq">
                <a:solidFill>
                  <a:srgbClr val="D9E2EF"/>
                </a:solidFill>
                <a:prstDash val="solid"/>
                <a:miter/>
              </a:ln>
            </p:spPr>
          </p:sp>
          <p:sp>
            <p:nvSpPr>
              <p:cNvPr id="9" name="TextBox 6">
                <a:extLst>
                  <a:ext uri="{FF2B5EF4-FFF2-40B4-BE49-F238E27FC236}">
                    <a16:creationId xmlns:a16="http://schemas.microsoft.com/office/drawing/2014/main" id="{D06D4F1B-CA33-08FA-0C81-5CA30001C2E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2148800" cy="63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 dirty="0"/>
              </a:p>
            </p:txBody>
          </p:sp>
        </p:grpSp>
        <p:sp>
          <p:nvSpPr>
            <p:cNvPr id="6" name="TextBox 7">
              <a:extLst>
                <a:ext uri="{FF2B5EF4-FFF2-40B4-BE49-F238E27FC236}">
                  <a16:creationId xmlns:a16="http://schemas.microsoft.com/office/drawing/2014/main" id="{7BD7B77C-FFFC-5B9E-C409-A3688529C7ED}"/>
                </a:ext>
              </a:extLst>
            </p:cNvPr>
            <p:cNvSpPr txBox="1"/>
            <p:nvPr/>
          </p:nvSpPr>
          <p:spPr>
            <a:xfrm>
              <a:off x="21043900" y="9525"/>
              <a:ext cx="1143000" cy="3755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310"/>
                </a:lnSpc>
              </a:pPr>
              <a:r>
                <a:rPr lang="en-US" sz="1650" b="1" spc="132" dirty="0">
                  <a:solidFill>
                    <a:srgbClr val="1769E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11</a:t>
              </a:r>
            </a:p>
          </p:txBody>
        </p:sp>
      </p:grpSp>
      <p:sp>
        <p:nvSpPr>
          <p:cNvPr id="17" name="AutoShape 22">
            <a:extLst>
              <a:ext uri="{FF2B5EF4-FFF2-40B4-BE49-F238E27FC236}">
                <a16:creationId xmlns:a16="http://schemas.microsoft.com/office/drawing/2014/main" id="{5011F2D8-92BE-E8BC-FF84-23B50406AB35}"/>
              </a:ext>
            </a:extLst>
          </p:cNvPr>
          <p:cNvSpPr/>
          <p:nvPr/>
        </p:nvSpPr>
        <p:spPr>
          <a:xfrm>
            <a:off x="9120553" y="4319587"/>
            <a:ext cx="484895" cy="0"/>
          </a:xfrm>
          <a:prstGeom prst="line">
            <a:avLst/>
          </a:prstGeom>
          <a:ln w="28575" cap="rnd">
            <a:solidFill>
              <a:srgbClr val="F59E0B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AF3B1CE-5943-B491-F9B2-B17F71CBD02C}"/>
              </a:ext>
            </a:extLst>
          </p:cNvPr>
          <p:cNvSpPr txBox="1"/>
          <p:nvPr/>
        </p:nvSpPr>
        <p:spPr>
          <a:xfrm>
            <a:off x="838200" y="323514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  <a:spcAft>
                <a:spcPts val="800"/>
              </a:spcAft>
            </a:pPr>
            <a:r>
              <a:rPr lang="en-IN" sz="2400" b="1" kern="100" dirty="0">
                <a:solidFill>
                  <a:schemeClr val="tx2">
                    <a:lumMod val="50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Cordia New" panose="020B0304020202020204" pitchFamily="34" charset="-34"/>
              </a:rPr>
              <a:t>Ticket Details Query input and output</a:t>
            </a:r>
          </a:p>
        </p:txBody>
      </p:sp>
      <p:pic>
        <p:nvPicPr>
          <p:cNvPr id="30" name="Picture 29" descr="The image shows a computer screen displaying a ticket confirmation for passenger Rahul Sharma, traveling on the Rajdhani Express from Mumbai to Delhi on 2026-09-15 in 1A class seat A1-21, with a fare of 2450.&#10;&#10;AI-generated content may be incorrect.">
            <a:extLst>
              <a:ext uri="{FF2B5EF4-FFF2-40B4-BE49-F238E27FC236}">
                <a16:creationId xmlns:a16="http://schemas.microsoft.com/office/drawing/2014/main" id="{33125154-56EE-B04D-B51A-25FD670C0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59507"/>
            <a:ext cx="17373600" cy="8661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5754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3ADCB40-A3F5-ABCF-28F4-F6E170D2F1DD}"/>
              </a:ext>
            </a:extLst>
          </p:cNvPr>
          <p:cNvGrpSpPr/>
          <p:nvPr/>
        </p:nvGrpSpPr>
        <p:grpSpPr>
          <a:xfrm>
            <a:off x="838200" y="388144"/>
            <a:ext cx="16640175" cy="469106"/>
            <a:chOff x="0" y="9525"/>
            <a:chExt cx="22186900" cy="62547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6DC739C-9AB6-8A47-97F2-87AF30AC6DF8}"/>
                </a:ext>
              </a:extLst>
            </p:cNvPr>
            <p:cNvSpPr txBox="1"/>
            <p:nvPr/>
          </p:nvSpPr>
          <p:spPr>
            <a:xfrm>
              <a:off x="0" y="19050"/>
              <a:ext cx="18415000" cy="4103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0"/>
                </a:lnSpc>
              </a:pPr>
              <a:endParaRPr lang="en-US" sz="2250" b="1" dirty="0">
                <a:solidFill>
                  <a:srgbClr val="14213D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0B5AA91-2194-562F-D2DA-A7ADBE5559A2}"/>
                </a:ext>
              </a:extLst>
            </p:cNvPr>
            <p:cNvGrpSpPr/>
            <p:nvPr/>
          </p:nvGrpSpPr>
          <p:grpSpPr>
            <a:xfrm>
              <a:off x="0" y="609600"/>
              <a:ext cx="22148800" cy="25400"/>
              <a:chOff x="0" y="0"/>
              <a:chExt cx="22148800" cy="25400"/>
            </a:xfrm>
          </p:grpSpPr>
          <p:sp>
            <p:nvSpPr>
              <p:cNvPr id="7" name="Freeform 5">
                <a:extLst>
                  <a:ext uri="{FF2B5EF4-FFF2-40B4-BE49-F238E27FC236}">
                    <a16:creationId xmlns:a16="http://schemas.microsoft.com/office/drawing/2014/main" id="{67538023-8938-0DD4-6F35-DF48ED7CCD7F}"/>
                  </a:ext>
                </a:extLst>
              </p:cNvPr>
              <p:cNvSpPr/>
              <p:nvPr/>
            </p:nvSpPr>
            <p:spPr>
              <a:xfrm>
                <a:off x="0" y="0"/>
                <a:ext cx="221488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2148800" h="25400">
                    <a:moveTo>
                      <a:pt x="0" y="0"/>
                    </a:moveTo>
                    <a:lnTo>
                      <a:pt x="22148800" y="0"/>
                    </a:lnTo>
                    <a:lnTo>
                      <a:pt x="221488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D9E2EF"/>
              </a:solidFill>
              <a:ln w="9525" cap="sq">
                <a:solidFill>
                  <a:srgbClr val="D9E2EF"/>
                </a:solidFill>
                <a:prstDash val="solid"/>
                <a:miter/>
              </a:ln>
            </p:spPr>
          </p:sp>
          <p:sp>
            <p:nvSpPr>
              <p:cNvPr id="8" name="TextBox 6">
                <a:extLst>
                  <a:ext uri="{FF2B5EF4-FFF2-40B4-BE49-F238E27FC236}">
                    <a16:creationId xmlns:a16="http://schemas.microsoft.com/office/drawing/2014/main" id="{9E352E9D-02DF-FDFC-FC06-A9152968E41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2148800" cy="63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 dirty="0"/>
              </a:p>
            </p:txBody>
          </p:sp>
        </p:grpSp>
        <p:sp>
          <p:nvSpPr>
            <p:cNvPr id="5" name="TextBox 7">
              <a:extLst>
                <a:ext uri="{FF2B5EF4-FFF2-40B4-BE49-F238E27FC236}">
                  <a16:creationId xmlns:a16="http://schemas.microsoft.com/office/drawing/2014/main" id="{05A48C7A-9111-6DD0-7B85-86F136B1647E}"/>
                </a:ext>
              </a:extLst>
            </p:cNvPr>
            <p:cNvSpPr txBox="1"/>
            <p:nvPr/>
          </p:nvSpPr>
          <p:spPr>
            <a:xfrm>
              <a:off x="21043900" y="9525"/>
              <a:ext cx="1143000" cy="3755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310"/>
                </a:lnSpc>
              </a:pPr>
              <a:r>
                <a:rPr lang="en-US" sz="1650" b="1" spc="132" dirty="0">
                  <a:solidFill>
                    <a:srgbClr val="1769E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12</a:t>
              </a:r>
            </a:p>
          </p:txBody>
        </p:sp>
      </p:grpSp>
      <p:sp>
        <p:nvSpPr>
          <p:cNvPr id="9" name="AutoShape 22">
            <a:extLst>
              <a:ext uri="{FF2B5EF4-FFF2-40B4-BE49-F238E27FC236}">
                <a16:creationId xmlns:a16="http://schemas.microsoft.com/office/drawing/2014/main" id="{D333E226-6DCD-55F3-D129-55EA1E5A3113}"/>
              </a:ext>
            </a:extLst>
          </p:cNvPr>
          <p:cNvSpPr/>
          <p:nvPr/>
        </p:nvSpPr>
        <p:spPr>
          <a:xfrm>
            <a:off x="9120553" y="4319587"/>
            <a:ext cx="484895" cy="0"/>
          </a:xfrm>
          <a:prstGeom prst="line">
            <a:avLst/>
          </a:prstGeom>
          <a:ln w="28575" cap="rnd">
            <a:solidFill>
              <a:srgbClr val="F59E0B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7B321E-9FB6-E197-8F14-D57705DB062E}"/>
              </a:ext>
            </a:extLst>
          </p:cNvPr>
          <p:cNvSpPr txBox="1"/>
          <p:nvPr/>
        </p:nvSpPr>
        <p:spPr>
          <a:xfrm>
            <a:off x="838200" y="323514"/>
            <a:ext cx="9144000" cy="933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Aptos" panose="020B0004020202020204" pitchFamily="34" charset="0"/>
              </a:rPr>
              <a:t>Ticket Fare Query input and output</a:t>
            </a:r>
          </a:p>
          <a:p>
            <a:pPr lvl="0">
              <a:lnSpc>
                <a:spcPct val="100000"/>
              </a:lnSpc>
              <a:spcAft>
                <a:spcPts val="800"/>
              </a:spcAft>
            </a:pPr>
            <a:endParaRPr lang="en-IN" sz="2400" b="1" kern="100" dirty="0">
              <a:solidFill>
                <a:schemeClr val="tx2">
                  <a:lumMod val="50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Cordia New" panose="020B0304020202020204" pitchFamily="34" charset="-34"/>
            </a:endParaRPr>
          </a:p>
        </p:txBody>
      </p:sp>
      <p:pic>
        <p:nvPicPr>
          <p:cNvPr id="12" name="Picture 11" descr="The image displays a terminal interface with a query result showing a ticket information for a passenger named Pooja Nair on the Duronto Express, departing from Mumbai to Kolkata on 2026-09-22, in 2A class, seat B2-27, with a fare of 1950.&#10;&#10;AI-generated content may be incorrect.">
            <a:extLst>
              <a:ext uri="{FF2B5EF4-FFF2-40B4-BE49-F238E27FC236}">
                <a16:creationId xmlns:a16="http://schemas.microsoft.com/office/drawing/2014/main" id="{A5B723B0-055F-305A-8D20-BE781B635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498" y="990575"/>
            <a:ext cx="16611599" cy="848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9498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38200" y="388144"/>
            <a:ext cx="16640175" cy="469106"/>
            <a:chOff x="0" y="9525"/>
            <a:chExt cx="22186900" cy="625475"/>
          </a:xfrm>
        </p:grpSpPr>
        <p:sp>
          <p:nvSpPr>
            <p:cNvPr id="3" name="TextBox 3"/>
            <p:cNvSpPr txBox="1"/>
            <p:nvPr/>
          </p:nvSpPr>
          <p:spPr>
            <a:xfrm>
              <a:off x="0" y="19050"/>
              <a:ext cx="18415000" cy="4330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2250" b="1">
                  <a:solidFill>
                    <a:srgbClr val="14213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Results, Conclusion &amp; Future Scope</a:t>
              </a:r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0" y="609600"/>
              <a:ext cx="22148800" cy="25400"/>
              <a:chOff x="0" y="0"/>
              <a:chExt cx="22148800" cy="254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221488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2148800" h="25400">
                    <a:moveTo>
                      <a:pt x="0" y="0"/>
                    </a:moveTo>
                    <a:lnTo>
                      <a:pt x="22148800" y="0"/>
                    </a:lnTo>
                    <a:lnTo>
                      <a:pt x="221488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D9E2EF"/>
              </a:solidFill>
              <a:ln w="9525" cap="sq">
                <a:solidFill>
                  <a:srgbClr val="D9E2EF"/>
                </a:solidFill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22148800" cy="63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21043900" y="9525"/>
              <a:ext cx="1143000" cy="3755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310"/>
                </a:lnSpc>
              </a:pPr>
              <a:r>
                <a:rPr lang="en-US" sz="1650" b="1" spc="132" dirty="0">
                  <a:solidFill>
                    <a:srgbClr val="1769E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13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38200" y="1428750"/>
            <a:ext cx="5143500" cy="4667250"/>
            <a:chOff x="0" y="0"/>
            <a:chExt cx="6858000" cy="6223000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6858000" cy="6223000"/>
              <a:chOff x="0" y="0"/>
              <a:chExt cx="6858000" cy="62230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6858000" cy="6223000"/>
              </a:xfrm>
              <a:custGeom>
                <a:avLst/>
                <a:gdLst/>
                <a:ahLst/>
                <a:cxnLst/>
                <a:rect l="l" t="t" r="r" b="b"/>
                <a:pathLst>
                  <a:path w="6858000" h="6223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6223000"/>
                    </a:lnTo>
                    <a:lnTo>
                      <a:pt x="0" y="6223000"/>
                    </a:lnTo>
                    <a:close/>
                  </a:path>
                </a:pathLst>
              </a:custGeom>
              <a:solidFill>
                <a:srgbClr val="F7F9FC"/>
              </a:solidFill>
              <a:ln w="9525" cap="sq">
                <a:solidFill>
                  <a:srgbClr val="1769E0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6858000" cy="626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381000" y="288925"/>
              <a:ext cx="6096000" cy="3536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132">
                  <a:solidFill>
                    <a:srgbClr val="1769E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RESULTS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81000" y="1187450"/>
              <a:ext cx="6096000" cy="2425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7"/>
                </a:lnSpc>
              </a:pPr>
              <a:r>
                <a:rPr lang="en-US" sz="1875">
                  <a:solidFill>
                    <a:srgbClr val="14213D"/>
                  </a:solidFill>
                  <a:latin typeface="DM Sans"/>
                  <a:ea typeface="DM Sans"/>
                  <a:cs typeface="DM Sans"/>
                  <a:sym typeface="DM Sans"/>
                </a:rPr>
                <a:t>• Supervisor-based architecture implemented</a:t>
              </a:r>
            </a:p>
            <a:p>
              <a:pPr algn="l">
                <a:lnSpc>
                  <a:spcPts val="2437"/>
                </a:lnSpc>
              </a:pPr>
              <a:r>
                <a:rPr lang="en-US" sz="1875">
                  <a:solidFill>
                    <a:srgbClr val="14213D"/>
                  </a:solidFill>
                  <a:latin typeface="DM Sans"/>
                  <a:ea typeface="DM Sans"/>
                  <a:cs typeface="DM Sans"/>
                  <a:sym typeface="DM Sans"/>
                </a:rPr>
                <a:t>• Natural-language queries processed</a:t>
              </a:r>
            </a:p>
            <a:p>
              <a:pPr algn="l">
                <a:lnSpc>
                  <a:spcPts val="2437"/>
                </a:lnSpc>
              </a:pPr>
              <a:r>
                <a:rPr lang="en-US" sz="1875">
                  <a:solidFill>
                    <a:srgbClr val="14213D"/>
                  </a:solidFill>
                  <a:latin typeface="DM Sans"/>
                  <a:ea typeface="DM Sans"/>
                  <a:cs typeface="DM Sans"/>
                  <a:sym typeface="DM Sans"/>
                </a:rPr>
                <a:t>• Routed to specialized agents</a:t>
              </a:r>
            </a:p>
            <a:p>
              <a:pPr algn="l">
                <a:lnSpc>
                  <a:spcPts val="2437"/>
                </a:lnSpc>
              </a:pPr>
              <a:r>
                <a:rPr lang="en-US" sz="1875">
                  <a:solidFill>
                    <a:srgbClr val="14213D"/>
                  </a:solidFill>
                  <a:latin typeface="DM Sans"/>
                  <a:ea typeface="DM Sans"/>
                  <a:cs typeface="DM Sans"/>
                  <a:sym typeface="DM Sans"/>
                </a:rPr>
                <a:t>• Verified SQLite retrieval</a:t>
              </a:r>
            </a:p>
            <a:p>
              <a:pPr algn="l">
                <a:lnSpc>
                  <a:spcPts val="2437"/>
                </a:lnSpc>
              </a:pPr>
              <a:r>
                <a:rPr lang="en-US" sz="1875">
                  <a:solidFill>
                    <a:srgbClr val="14213D"/>
                  </a:solidFill>
                  <a:latin typeface="DM Sans"/>
                  <a:ea typeface="DM Sans"/>
                  <a:cs typeface="DM Sans"/>
                  <a:sym typeface="DM Sans"/>
                </a:rPr>
                <a:t>• Streamlit dashboard implemented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362700" y="1428750"/>
            <a:ext cx="5143500" cy="4667250"/>
            <a:chOff x="0" y="0"/>
            <a:chExt cx="6858000" cy="6223000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6858000" cy="6223000"/>
              <a:chOff x="0" y="0"/>
              <a:chExt cx="6858000" cy="62230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6858000" cy="6223000"/>
              </a:xfrm>
              <a:custGeom>
                <a:avLst/>
                <a:gdLst/>
                <a:ahLst/>
                <a:cxnLst/>
                <a:rect l="l" t="t" r="r" b="b"/>
                <a:pathLst>
                  <a:path w="6858000" h="6223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6223000"/>
                    </a:lnTo>
                    <a:lnTo>
                      <a:pt x="0" y="6223000"/>
                    </a:lnTo>
                    <a:close/>
                  </a:path>
                </a:pathLst>
              </a:custGeom>
              <a:solidFill>
                <a:srgbClr val="FFF6F6"/>
              </a:solidFill>
              <a:ln w="9525" cap="sq">
                <a:solidFill>
                  <a:srgbClr val="D64045"/>
                </a:solidFill>
                <a:prstDash val="solid"/>
                <a:miter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6858000" cy="626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381000" y="288925"/>
              <a:ext cx="6096000" cy="3536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132">
                  <a:solidFill>
                    <a:srgbClr val="1769E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CONCLUSION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81000" y="1187450"/>
              <a:ext cx="6096000" cy="1612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7"/>
                </a:lnSpc>
              </a:pPr>
              <a:r>
                <a:rPr lang="en-US" sz="1875">
                  <a:solidFill>
                    <a:srgbClr val="14213D"/>
                  </a:solidFill>
                  <a:latin typeface="DM Sans"/>
                  <a:ea typeface="DM Sans"/>
                  <a:cs typeface="DM Sans"/>
                  <a:sym typeface="DM Sans"/>
                </a:rPr>
                <a:t>Generative AI, multi-agent routing, and a structured railway database can work together to deliver grounded administrator information.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887200" y="1428750"/>
            <a:ext cx="5143500" cy="4667250"/>
            <a:chOff x="0" y="0"/>
            <a:chExt cx="6858000" cy="6223000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6858000" cy="6223000"/>
              <a:chOff x="0" y="0"/>
              <a:chExt cx="6858000" cy="62230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6858000" cy="6223000"/>
              </a:xfrm>
              <a:custGeom>
                <a:avLst/>
                <a:gdLst/>
                <a:ahLst/>
                <a:cxnLst/>
                <a:rect l="l" t="t" r="r" b="b"/>
                <a:pathLst>
                  <a:path w="6858000" h="6223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6223000"/>
                    </a:lnTo>
                    <a:lnTo>
                      <a:pt x="0" y="6223000"/>
                    </a:lnTo>
                    <a:close/>
                  </a:path>
                </a:pathLst>
              </a:custGeom>
              <a:solidFill>
                <a:srgbClr val="F7F9FC"/>
              </a:solidFill>
              <a:ln w="9525" cap="sq">
                <a:solidFill>
                  <a:srgbClr val="F59E0B"/>
                </a:solidFill>
                <a:prstDash val="solid"/>
                <a:miter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6858000" cy="626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381000" y="288925"/>
              <a:ext cx="6096000" cy="3536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132">
                  <a:solidFill>
                    <a:srgbClr val="1769E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FUTURE SCOPE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81000" y="1187450"/>
              <a:ext cx="6096000" cy="2019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7"/>
                </a:lnSpc>
              </a:pPr>
              <a:r>
                <a:rPr lang="en-US" sz="1875">
                  <a:solidFill>
                    <a:srgbClr val="14213D"/>
                  </a:solidFill>
                  <a:latin typeface="DM Sans"/>
                  <a:ea typeface="DM Sans"/>
                  <a:cs typeface="DM Sans"/>
                  <a:sym typeface="DM Sans"/>
                </a:rPr>
                <a:t>• Live railway database integration</a:t>
              </a:r>
            </a:p>
            <a:p>
              <a:pPr algn="l">
                <a:lnSpc>
                  <a:spcPts val="2437"/>
                </a:lnSpc>
              </a:pPr>
              <a:r>
                <a:rPr lang="en-US" sz="1875">
                  <a:solidFill>
                    <a:srgbClr val="14213D"/>
                  </a:solidFill>
                  <a:latin typeface="DM Sans"/>
                  <a:ea typeface="DM Sans"/>
                  <a:cs typeface="DM Sans"/>
                  <a:sym typeface="DM Sans"/>
                </a:rPr>
                <a:t>• Authentication &amp; role-based access</a:t>
              </a:r>
            </a:p>
            <a:p>
              <a:pPr algn="l">
                <a:lnSpc>
                  <a:spcPts val="2437"/>
                </a:lnSpc>
              </a:pPr>
              <a:r>
                <a:rPr lang="en-US" sz="1875">
                  <a:solidFill>
                    <a:srgbClr val="14213D"/>
                  </a:solidFill>
                  <a:latin typeface="DM Sans"/>
                  <a:ea typeface="DM Sans"/>
                  <a:cs typeface="DM Sans"/>
                  <a:sym typeface="DM Sans"/>
                </a:rPr>
                <a:t>• Larger datasets and more agents</a:t>
              </a:r>
            </a:p>
            <a:p>
              <a:pPr algn="l">
                <a:lnSpc>
                  <a:spcPts val="2437"/>
                </a:lnSpc>
              </a:pPr>
              <a:r>
                <a:rPr lang="en-US" sz="1875">
                  <a:solidFill>
                    <a:srgbClr val="14213D"/>
                  </a:solidFill>
                  <a:latin typeface="DM Sans"/>
                  <a:ea typeface="DM Sans"/>
                  <a:cs typeface="DM Sans"/>
                  <a:sym typeface="DM Sans"/>
                </a:rPr>
                <a:t>• Real-time monitoring &amp; analytics</a:t>
              </a:r>
            </a:p>
            <a:p>
              <a:pPr algn="l">
                <a:lnSpc>
                  <a:spcPts val="2437"/>
                </a:lnSpc>
              </a:pPr>
              <a:r>
                <a:rPr lang="en-US" sz="1875">
                  <a:solidFill>
                    <a:srgbClr val="14213D"/>
                  </a:solidFill>
                  <a:latin typeface="DM Sans"/>
                  <a:ea typeface="DM Sans"/>
                  <a:cs typeface="DM Sans"/>
                  <a:sym typeface="DM Sans"/>
                </a:rPr>
                <a:t>• Voice queries and secure deployment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2381250" y="7167467"/>
            <a:ext cx="13525500" cy="938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28"/>
              </a:lnSpc>
            </a:pPr>
            <a:r>
              <a:rPr lang="en-US" sz="6600" b="1" dirty="0">
                <a:solidFill>
                  <a:srgbClr val="1421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686</Words>
  <Application>Microsoft Office PowerPoint</Application>
  <PresentationFormat>Custom</PresentationFormat>
  <Paragraphs>198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DM Sans</vt:lpstr>
      <vt:lpstr>Calibri</vt:lpstr>
      <vt:lpstr>DM Sans Bold</vt:lpstr>
      <vt:lpstr>Montserrat Bold</vt:lpstr>
      <vt:lpstr>Aptos</vt:lpstr>
      <vt:lpstr>Times New Roman</vt:lpstr>
      <vt:lpstr>Arial</vt:lpstr>
      <vt:lpstr>IBM Plex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Akankshaa</dc:creator>
  <cp:lastModifiedBy>Sandeep Netkar</cp:lastModifiedBy>
  <cp:revision>4</cp:revision>
  <dcterms:created xsi:type="dcterms:W3CDTF">2006-08-16T00:00:00Z</dcterms:created>
  <dcterms:modified xsi:type="dcterms:W3CDTF">2026-09-10T14:31:11Z</dcterms:modified>
  <dc:identifier>DAHUzbbZ0n8</dc:identifier>
</cp:coreProperties>
</file>